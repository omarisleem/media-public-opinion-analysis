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F946D44-CF90-4C67-8E14-233B1BF57AC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0" y="0"/>
            <a:ext cx="0" cy="0"/>
          </a:xfrm>
          <a:prstGeom prst="rect">
            <a:avLst/>
          </a:prstGeom>
          <a:ln w="0">
            <a:noFill/>
          </a:ln>
        </p:spPr>
      </p:sp>
      <p:sp>
        <p:nvSpPr>
          <p:cNvPr id="13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32" name="PlaceHolder 3"/>
          <p:cNvSpPr>
            <a:spLocks noGrp="1"/>
          </p:cNvSpPr>
          <p:nvPr>
            <p:ph type="sldNum" idx="37"/>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0" y="0"/>
            <a:ext cx="0" cy="0"/>
          </a:xfrm>
          <a:prstGeom prst="rect">
            <a:avLst/>
          </a:prstGeom>
          <a:ln w="0">
            <a:noFill/>
          </a:ln>
        </p:spPr>
      </p:sp>
      <p:sp>
        <p:nvSpPr>
          <p:cNvPr id="13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35" name="PlaceHolder 3"/>
          <p:cNvSpPr>
            <a:spLocks noGrp="1"/>
          </p:cNvSpPr>
          <p:nvPr>
            <p:ph type="sldNum" idx="38"/>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0" y="0"/>
            <a:ext cx="0" cy="0"/>
          </a:xfrm>
          <a:prstGeom prst="rect">
            <a:avLst/>
          </a:prstGeom>
          <a:ln w="0">
            <a:noFill/>
          </a:ln>
        </p:spPr>
      </p:sp>
      <p:sp>
        <p:nvSpPr>
          <p:cNvPr id="13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38" name="PlaceHolder 3"/>
          <p:cNvSpPr>
            <a:spLocks noGrp="1"/>
          </p:cNvSpPr>
          <p:nvPr>
            <p:ph type="sldNum" idx="39"/>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0" y="0"/>
            <a:ext cx="0" cy="0"/>
          </a:xfrm>
          <a:prstGeom prst="rect">
            <a:avLst/>
          </a:prstGeom>
          <a:ln w="0">
            <a:noFill/>
          </a:ln>
        </p:spPr>
      </p:sp>
      <p:sp>
        <p:nvSpPr>
          <p:cNvPr id="14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41" name="PlaceHolder 3"/>
          <p:cNvSpPr>
            <a:spLocks noGrp="1"/>
          </p:cNvSpPr>
          <p:nvPr>
            <p:ph type="sldNum" idx="40"/>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0" y="0"/>
            <a:ext cx="0" cy="0"/>
          </a:xfrm>
          <a:prstGeom prst="rect">
            <a:avLst/>
          </a:prstGeom>
          <a:ln w="0">
            <a:noFill/>
          </a:ln>
        </p:spPr>
      </p:sp>
      <p:sp>
        <p:nvSpPr>
          <p:cNvPr id="14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44" name="PlaceHolder 3"/>
          <p:cNvSpPr>
            <a:spLocks noGrp="1"/>
          </p:cNvSpPr>
          <p:nvPr>
            <p:ph type="sldNum" idx="41"/>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0" y="0"/>
            <a:ext cx="0" cy="0"/>
          </a:xfrm>
          <a:prstGeom prst="rect">
            <a:avLst/>
          </a:prstGeom>
          <a:ln w="0">
            <a:noFill/>
          </a:ln>
        </p:spPr>
      </p:sp>
      <p:sp>
        <p:nvSpPr>
          <p:cNvPr id="14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47" name="PlaceHolder 3"/>
          <p:cNvSpPr>
            <a:spLocks noGrp="1"/>
          </p:cNvSpPr>
          <p:nvPr>
            <p:ph type="sldNum" idx="42"/>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0" y="0"/>
            <a:ext cx="0" cy="0"/>
          </a:xfrm>
          <a:prstGeom prst="rect">
            <a:avLst/>
          </a:prstGeom>
          <a:ln w="0">
            <a:noFill/>
          </a:ln>
        </p:spPr>
      </p:sp>
      <p:sp>
        <p:nvSpPr>
          <p:cNvPr id="14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50" name="PlaceHolder 3"/>
          <p:cNvSpPr>
            <a:spLocks noGrp="1"/>
          </p:cNvSpPr>
          <p:nvPr>
            <p:ph type="sldNum" idx="43"/>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0" y="0"/>
            <a:ext cx="0" cy="0"/>
          </a:xfrm>
          <a:prstGeom prst="rect">
            <a:avLst/>
          </a:prstGeom>
          <a:ln w="0">
            <a:noFill/>
          </a:ln>
        </p:spPr>
      </p:sp>
      <p:sp>
        <p:nvSpPr>
          <p:cNvPr id="15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53" name="PlaceHolder 3"/>
          <p:cNvSpPr>
            <a:spLocks noGrp="1"/>
          </p:cNvSpPr>
          <p:nvPr>
            <p:ph type="sldNum" idx="44"/>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0" y="0"/>
            <a:ext cx="0" cy="0"/>
          </a:xfrm>
          <a:prstGeom prst="rect">
            <a:avLst/>
          </a:prstGeom>
          <a:ln w="0">
            <a:noFill/>
          </a:ln>
        </p:spPr>
      </p:sp>
      <p:sp>
        <p:nvSpPr>
          <p:cNvPr id="15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ctr">
            <a:noAutofit/>
          </a:bodyPr>
          <a:p>
            <a:pPr marL="216000" indent="-216000">
              <a:buNone/>
            </a:pPr>
            <a:endParaRPr b="0" lang="en-US" sz="1800" spc="-1" strike="noStrike">
              <a:solidFill>
                <a:srgbClr val="000000"/>
              </a:solidFill>
              <a:latin typeface="Arial"/>
            </a:endParaRPr>
          </a:p>
        </p:txBody>
      </p:sp>
      <p:sp>
        <p:nvSpPr>
          <p:cNvPr id="156" name="PlaceHolder 3"/>
          <p:cNvSpPr>
            <a:spLocks noGrp="1"/>
          </p:cNvSpPr>
          <p:nvPr>
            <p:ph type="sldNum" idx="45"/>
          </p:nvPr>
        </p:nvSpPr>
        <p:spPr>
          <a:xfrm>
            <a:off x="3884760" y="8685360"/>
            <a:ext cx="2970720" cy="45756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B3D93B1-94CA-484A-B578-FDAE73A4EB3F}"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5F1502B-CF1F-4634-B99F-8B9542BEE2BF}"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0C01699-6AA2-4A3C-A693-0C419F5FD093}"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CDBB117-9811-4D4E-8236-C7FC86DEA04B}"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7CE3B28E-B3E7-44DB-BD20-08C741AA34B2}"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5467628C-0A1A-40DD-A09A-E774CD893803}"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5F4C19DD-D48B-4BBA-89BB-1E14A58FD745}"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F62C7AEC-4582-4F75-8E1C-E1D7102DA60B}"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B6C982D9-9A36-4CC4-8E77-42B6142D5E4E}"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E2F4079E-4436-4A25-8595-42BC801ADE58}"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76D8A451-8F3D-4D3A-AA9A-2F4990BDD332}"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36D4983A-D9E4-48C0-9216-3FE4A45B924A}"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20BF93A5-E01C-4412-BE0B-4CEAA16D8DE1}"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E7E5FA85-3CA2-448F-BC29-8022FA0DDA9C}"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60BFD22A-9536-4323-B95F-313721E6B9E5}"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13225FBE-53AC-44A6-9DA0-EAE66714B453}"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85EBA08F-D709-4D8A-83C9-31D9805E6427}"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90DBA186-0BE7-4C58-8E84-52058943DC7B}"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19830201-4C50-4102-9990-0DF6E677306E}"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3D3A38F8-881A-4605-A8B5-861ECC403157}"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CB381C06-FCDD-4F16-9AD2-A0262306FA36}"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ea typeface="Arial"/>
              </a:defRPr>
            </a:lvl1pPr>
          </a:lstStyle>
          <a:p>
            <a:pPr indent="0" algn="r" defTabSz="914400">
              <a:lnSpc>
                <a:spcPct val="100000"/>
              </a:lnSpc>
              <a:buNone/>
              <a:tabLst>
                <a:tab algn="l" pos="0"/>
              </a:tabLst>
            </a:pPr>
            <a:fld id="{9FFC73B7-6A9D-4F73-9AA4-B6F7A8316F5E}" type="slidenum">
              <a:rPr b="0" lang="en-US" sz="1200" spc="-1" strike="noStrike">
                <a:solidFill>
                  <a:schemeClr val="dk1">
                    <a:tint val="75000"/>
                  </a:schemeClr>
                </a:solidFill>
                <a:latin typeface="Calibri"/>
                <a:ea typeface="Arial"/>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slideLayout" Target="../slideLayouts/slideLayout9.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9.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slideLayout" Target="../slideLayouts/slideLayout9.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slideLayout" Target="../slideLayouts/slideLayout9.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9.xml"/><Relationship Id="rId8"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slideLayout" Target="../slideLayouts/slideLayout9.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slideLayout" Target="../slideLayouts/slideLayout9.xml"/><Relationship Id="rId6"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56" name="TextBox 3"/>
          <p:cNvSpPr/>
          <p:nvPr/>
        </p:nvSpPr>
        <p:spPr>
          <a:xfrm>
            <a:off x="2802600" y="2495880"/>
            <a:ext cx="11315160" cy="4865040"/>
          </a:xfrm>
          <a:prstGeom prst="rect">
            <a:avLst/>
          </a:prstGeom>
          <a:noFill/>
          <a:ln w="0">
            <a:noFill/>
          </a:ln>
        </p:spPr>
        <p:style>
          <a:lnRef idx="0"/>
          <a:fillRef idx="0"/>
          <a:effectRef idx="0"/>
          <a:fontRef idx="minor"/>
        </p:style>
        <p:txBody>
          <a:bodyPr lIns="0" rIns="0" tIns="0" bIns="0" anchor="t">
            <a:spAutoFit/>
          </a:bodyPr>
          <a:p>
            <a:pPr algn="ctr" defTabSz="914400">
              <a:lnSpc>
                <a:spcPts val="12770"/>
              </a:lnSpc>
            </a:pPr>
            <a:r>
              <a:rPr b="1" lang="en-US" sz="15950" spc="-1" strike="noStrike">
                <a:solidFill>
                  <a:srgbClr val="f1f6f9"/>
                </a:solidFill>
                <a:latin typeface="Proxima Nova Heavy"/>
                <a:ea typeface="Proxima Nova Heavy"/>
              </a:rPr>
              <a:t>MEDIA &amp; PUBLIC OPINION</a:t>
            </a:r>
            <a:endParaRPr b="0" lang="en-US" sz="15950" spc="-1" strike="noStrike">
              <a:solidFill>
                <a:srgbClr val="ffffff"/>
              </a:solidFill>
              <a:latin typeface="Arial"/>
            </a:endParaRPr>
          </a:p>
        </p:txBody>
      </p:sp>
      <p:sp>
        <p:nvSpPr>
          <p:cNvPr id="57" name="Freeform 4"/>
          <p:cNvSpPr/>
          <p:nvPr/>
        </p:nvSpPr>
        <p:spPr>
          <a:xfrm>
            <a:off x="0" y="6172200"/>
            <a:ext cx="4847040" cy="4113720"/>
          </a:xfrm>
          <a:custGeom>
            <a:avLst/>
            <a:gdLst>
              <a:gd name="textAreaLeft" fmla="*/ 0 w 4847040"/>
              <a:gd name="textAreaRight" fmla="*/ 4848120 w 4847040"/>
              <a:gd name="textAreaTop" fmla="*/ 0 h 4113720"/>
              <a:gd name="textAreaBottom" fmla="*/ 4114800 h 4113720"/>
            </a:gdLst>
            <a:ahLst/>
            <a:rect l="textAreaLeft" t="textAreaTop" r="textAreaRight" b="textAreaBottom"/>
            <a:pathLst>
              <a:path w="4848071" h="4114800">
                <a:moveTo>
                  <a:pt x="0" y="0"/>
                </a:moveTo>
                <a:lnTo>
                  <a:pt x="4848071" y="0"/>
                </a:lnTo>
                <a:lnTo>
                  <a:pt x="4848071" y="4114800"/>
                </a:lnTo>
                <a:lnTo>
                  <a:pt x="0" y="41148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58" name="Freeform 5"/>
          <p:cNvSpPr/>
          <p:nvPr/>
        </p:nvSpPr>
        <p:spPr>
          <a:xfrm flipH="1" flipV="1">
            <a:off x="13439160" y="-360"/>
            <a:ext cx="4847040" cy="4113720"/>
          </a:xfrm>
          <a:custGeom>
            <a:avLst/>
            <a:gdLst>
              <a:gd name="textAreaLeft" fmla="*/ 720 w 4847040"/>
              <a:gd name="textAreaRight" fmla="*/ 4848840 w 4847040"/>
              <a:gd name="textAreaTop" fmla="*/ -720 h 4113720"/>
              <a:gd name="textAreaBottom" fmla="*/ 4114080 h 4113720"/>
            </a:gdLst>
            <a:ahLst/>
            <a:rect l="textAreaLeft" t="textAreaTop" r="textAreaRight" b="textAreaBottom"/>
            <a:pathLst>
              <a:path w="4848071" h="4114800">
                <a:moveTo>
                  <a:pt x="4848071" y="4114800"/>
                </a:moveTo>
                <a:lnTo>
                  <a:pt x="0" y="4114800"/>
                </a:lnTo>
                <a:lnTo>
                  <a:pt x="0" y="0"/>
                </a:lnTo>
                <a:lnTo>
                  <a:pt x="4848071" y="0"/>
                </a:lnTo>
                <a:lnTo>
                  <a:pt x="4848071" y="411480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59" name="Freeform 2"/>
          <p:cNvSpPr/>
          <p:nvPr/>
        </p:nvSpPr>
        <p:spPr>
          <a:xfrm>
            <a:off x="0" y="6229440"/>
            <a:ext cx="4113720" cy="4113720"/>
          </a:xfrm>
          <a:custGeom>
            <a:avLst/>
            <a:gdLst>
              <a:gd name="textAreaLeft" fmla="*/ 0 w 4113720"/>
              <a:gd name="textAreaRight" fmla="*/ 4114800 w 4113720"/>
              <a:gd name="textAreaTop" fmla="*/ 0 h 4113720"/>
              <a:gd name="textAreaBottom" fmla="*/ 4114800 h 4113720"/>
            </a:gdLst>
            <a:ahLst/>
            <a:rect l="textAreaLeft" t="textAreaTop" r="textAreaRight" b="textAreaBottom"/>
            <a:pathLst>
              <a:path w="4114800" h="4114800">
                <a:moveTo>
                  <a:pt x="0" y="0"/>
                </a:moveTo>
                <a:lnTo>
                  <a:pt x="4114800" y="0"/>
                </a:lnTo>
                <a:lnTo>
                  <a:pt x="4114800" y="4114800"/>
                </a:lnTo>
                <a:lnTo>
                  <a:pt x="0" y="41148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60" name="Freeform 3"/>
          <p:cNvSpPr/>
          <p:nvPr/>
        </p:nvSpPr>
        <p:spPr>
          <a:xfrm flipH="1" flipV="1">
            <a:off x="14171760" y="-57600"/>
            <a:ext cx="4113720" cy="4113720"/>
          </a:xfrm>
          <a:custGeom>
            <a:avLst/>
            <a:gdLst>
              <a:gd name="textAreaLeft" fmla="*/ -720 w 4113720"/>
              <a:gd name="textAreaRight" fmla="*/ 4114080 w 4113720"/>
              <a:gd name="textAreaTop" fmla="*/ -720 h 4113720"/>
              <a:gd name="textAreaBottom" fmla="*/ 4114080 h 4113720"/>
            </a:gdLst>
            <a:ahLst/>
            <a:rect l="textAreaLeft" t="textAreaTop" r="textAreaRight" b="textAreaBottom"/>
            <a:pathLst>
              <a:path w="4114800" h="4114800">
                <a:moveTo>
                  <a:pt x="4114800" y="4114800"/>
                </a:moveTo>
                <a:lnTo>
                  <a:pt x="0" y="4114800"/>
                </a:lnTo>
                <a:lnTo>
                  <a:pt x="0" y="0"/>
                </a:lnTo>
                <a:lnTo>
                  <a:pt x="4114800" y="0"/>
                </a:lnTo>
                <a:lnTo>
                  <a:pt x="4114800" y="411480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61" name="Group 4"/>
          <p:cNvGrpSpPr/>
          <p:nvPr/>
        </p:nvGrpSpPr>
        <p:grpSpPr>
          <a:xfrm>
            <a:off x="914760" y="820440"/>
            <a:ext cx="16229520" cy="8334720"/>
            <a:chOff x="914760" y="820440"/>
            <a:chExt cx="16229520" cy="8334720"/>
          </a:xfrm>
        </p:grpSpPr>
        <p:sp>
          <p:nvSpPr>
            <p:cNvPr id="62" name="Freeform 5"/>
            <p:cNvSpPr/>
            <p:nvPr/>
          </p:nvSpPr>
          <p:spPr>
            <a:xfrm>
              <a:off x="914760" y="965160"/>
              <a:ext cx="16229520" cy="8190000"/>
            </a:xfrm>
            <a:custGeom>
              <a:avLst/>
              <a:gdLst>
                <a:gd name="textAreaLeft" fmla="*/ 0 w 16229520"/>
                <a:gd name="textAreaRight" fmla="*/ 16230600 w 16229520"/>
                <a:gd name="textAreaTop" fmla="*/ 0 h 8190000"/>
                <a:gd name="textAreaBottom" fmla="*/ 8191080 h 8190000"/>
              </a:gdLst>
              <a:ahLst/>
              <a:rect l="textAreaLeft" t="textAreaTop" r="textAreaRight" b="textAreaBottom"/>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63" name="TextBox 6"/>
            <p:cNvSpPr/>
            <p:nvPr/>
          </p:nvSpPr>
          <p:spPr>
            <a:xfrm>
              <a:off x="914760" y="820440"/>
              <a:ext cx="16229520" cy="8334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64" name="TextBox 7"/>
          <p:cNvSpPr/>
          <p:nvPr/>
        </p:nvSpPr>
        <p:spPr>
          <a:xfrm>
            <a:off x="1519920" y="3571920"/>
            <a:ext cx="7394760" cy="3763440"/>
          </a:xfrm>
          <a:prstGeom prst="rect">
            <a:avLst/>
          </a:prstGeom>
          <a:noFill/>
          <a:ln w="0">
            <a:noFill/>
          </a:ln>
        </p:spPr>
        <p:style>
          <a:lnRef idx="0"/>
          <a:fillRef idx="0"/>
          <a:effectRef idx="0"/>
          <a:fontRef idx="minor"/>
        </p:style>
        <p:txBody>
          <a:bodyPr lIns="0" rIns="0" tIns="0" bIns="0" anchor="t">
            <a:spAutoFit/>
          </a:bodyPr>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Omar Walid 231000554 </a:t>
            </a:r>
            <a:endParaRPr b="0" lang="en-US" sz="3600" spc="-1" strike="noStrike">
              <a:solidFill>
                <a:srgbClr val="ffffff"/>
              </a:solidFill>
              <a:latin typeface="Arial"/>
            </a:endParaRPr>
          </a:p>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Karim Bassem 231000797 </a:t>
            </a:r>
            <a:endParaRPr b="0" lang="en-US" sz="3600" spc="-1" strike="noStrike">
              <a:solidFill>
                <a:srgbClr val="ffffff"/>
              </a:solidFill>
              <a:latin typeface="Arial"/>
            </a:endParaRPr>
          </a:p>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Omar Salama 231000674</a:t>
            </a:r>
            <a:endParaRPr b="0" lang="en-US" sz="3600" spc="-1" strike="noStrike">
              <a:solidFill>
                <a:srgbClr val="ffffff"/>
              </a:solidFill>
              <a:latin typeface="Arial"/>
            </a:endParaRPr>
          </a:p>
        </p:txBody>
      </p:sp>
      <p:sp>
        <p:nvSpPr>
          <p:cNvPr id="65" name="TextBox 8"/>
          <p:cNvSpPr/>
          <p:nvPr/>
        </p:nvSpPr>
        <p:spPr>
          <a:xfrm>
            <a:off x="5621760" y="2333520"/>
            <a:ext cx="6687720" cy="863280"/>
          </a:xfrm>
          <a:prstGeom prst="rect">
            <a:avLst/>
          </a:prstGeom>
          <a:noFill/>
          <a:ln w="0">
            <a:noFill/>
          </a:ln>
        </p:spPr>
        <p:style>
          <a:lnRef idx="0"/>
          <a:fillRef idx="0"/>
          <a:effectRef idx="0"/>
          <a:fontRef idx="minor"/>
        </p:style>
        <p:txBody>
          <a:bodyPr lIns="0" rIns="0" tIns="0" bIns="0" anchor="t">
            <a:spAutoFit/>
          </a:bodyPr>
          <a:p>
            <a:pPr algn="just" defTabSz="914400">
              <a:lnSpc>
                <a:spcPts val="6800"/>
              </a:lnSpc>
            </a:pPr>
            <a:r>
              <a:rPr b="1" lang="en-US" sz="8500" spc="-1" strike="noStrike">
                <a:solidFill>
                  <a:srgbClr val="14274e"/>
                </a:solidFill>
                <a:latin typeface="Proxima Nova Heavy"/>
                <a:ea typeface="Proxima Nova Heavy"/>
              </a:rPr>
              <a:t>  </a:t>
            </a:r>
            <a:r>
              <a:rPr b="1" lang="en-US" sz="8500" spc="-1" strike="noStrike">
                <a:solidFill>
                  <a:srgbClr val="14274e"/>
                </a:solidFill>
                <a:latin typeface="Proxima Nova Heavy"/>
                <a:ea typeface="Proxima Nova Heavy"/>
              </a:rPr>
              <a:t>Our Team</a:t>
            </a:r>
            <a:endParaRPr b="0" lang="en-US" sz="8500" spc="-1" strike="noStrike">
              <a:solidFill>
                <a:srgbClr val="ffffff"/>
              </a:solidFill>
              <a:latin typeface="Arial"/>
            </a:endParaRPr>
          </a:p>
        </p:txBody>
      </p:sp>
      <p:sp>
        <p:nvSpPr>
          <p:cNvPr id="66" name="TextBox 9"/>
          <p:cNvSpPr/>
          <p:nvPr/>
        </p:nvSpPr>
        <p:spPr>
          <a:xfrm>
            <a:off x="8458200" y="3657600"/>
            <a:ext cx="7537680" cy="3763440"/>
          </a:xfrm>
          <a:prstGeom prst="rect">
            <a:avLst/>
          </a:prstGeom>
          <a:noFill/>
          <a:ln w="0">
            <a:noFill/>
          </a:ln>
        </p:spPr>
        <p:style>
          <a:lnRef idx="0"/>
          <a:fillRef idx="0"/>
          <a:effectRef idx="0"/>
          <a:fontRef idx="minor"/>
        </p:style>
        <p:txBody>
          <a:bodyPr lIns="0" rIns="0" tIns="0" bIns="0" anchor="t">
            <a:spAutoFit/>
          </a:bodyPr>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 </a:t>
            </a:r>
            <a:r>
              <a:rPr b="0" lang="en-US" sz="3600" spc="-1" strike="noStrike">
                <a:solidFill>
                  <a:srgbClr val="14274e"/>
                </a:solidFill>
                <a:latin typeface="Clear Sans"/>
                <a:ea typeface="Clear Sans"/>
              </a:rPr>
              <a:t>Ahmed Fahmy 231000587</a:t>
            </a:r>
            <a:r>
              <a:rPr b="0" lang="en-US" sz="3600" spc="-1" strike="noStrike">
                <a:solidFill>
                  <a:srgbClr val="14274e"/>
                </a:solidFill>
                <a:latin typeface="Clear Sans"/>
                <a:ea typeface="Clear Sans"/>
              </a:rPr>
              <a:t>	</a:t>
            </a:r>
            <a:endParaRPr b="0" lang="en-US" sz="3600" spc="-1" strike="noStrike">
              <a:solidFill>
                <a:srgbClr val="ffffff"/>
              </a:solidFill>
              <a:latin typeface="Arial"/>
            </a:endParaRPr>
          </a:p>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.Nadeem Diaa 231000857</a:t>
            </a:r>
            <a:endParaRPr b="0" lang="en-US" sz="3600" spc="-1" strike="noStrike">
              <a:solidFill>
                <a:srgbClr val="ffffff"/>
              </a:solidFill>
              <a:latin typeface="Arial"/>
            </a:endParaRPr>
          </a:p>
          <a:p>
            <a:pPr lvl="1" marL="863640" indent="-431640" defTabSz="914400">
              <a:lnSpc>
                <a:spcPts val="9879"/>
              </a:lnSpc>
              <a:buClr>
                <a:srgbClr val="14274e"/>
              </a:buClr>
              <a:buFont typeface="OpenSymbol"/>
              <a:buAutoNum type="arabicPeriod"/>
            </a:pPr>
            <a:r>
              <a:rPr b="0" lang="en-US" sz="3600" spc="-1" strike="noStrike">
                <a:solidFill>
                  <a:srgbClr val="14274e"/>
                </a:solidFill>
                <a:latin typeface="Clear Sans"/>
                <a:ea typeface="Clear Sans"/>
              </a:rPr>
              <a:t>Ahmed Shalaby 231000514</a:t>
            </a:r>
            <a:endParaRPr b="0" lang="en-US" sz="3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67" name="Freeform 2"/>
          <p:cNvSpPr/>
          <p:nvPr/>
        </p:nvSpPr>
        <p:spPr>
          <a:xfrm flipV="1">
            <a:off x="0" y="-58680"/>
            <a:ext cx="3656520" cy="3656520"/>
          </a:xfrm>
          <a:custGeom>
            <a:avLst/>
            <a:gdLst>
              <a:gd name="textAreaLeft" fmla="*/ 0 w 3656520"/>
              <a:gd name="textAreaRight" fmla="*/ 3657600 w 3656520"/>
              <a:gd name="textAreaTop" fmla="*/ -720 h 3656520"/>
              <a:gd name="textAreaBottom" fmla="*/ 3656880 h 3656520"/>
            </a:gdLst>
            <a:ahLst/>
            <a:rect l="textAreaLeft" t="textAreaTop" r="textAreaRight" b="textAreaBottom"/>
            <a:pathLst>
              <a:path w="3657759" h="3657759">
                <a:moveTo>
                  <a:pt x="0" y="3657759"/>
                </a:moveTo>
                <a:lnTo>
                  <a:pt x="3657759" y="3657759"/>
                </a:lnTo>
                <a:lnTo>
                  <a:pt x="3657759" y="0"/>
                </a:lnTo>
                <a:lnTo>
                  <a:pt x="0" y="0"/>
                </a:lnTo>
                <a:lnTo>
                  <a:pt x="0" y="3657759"/>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68" name="Freeform 3"/>
          <p:cNvSpPr/>
          <p:nvPr/>
        </p:nvSpPr>
        <p:spPr>
          <a:xfrm flipH="1" flipV="1">
            <a:off x="13439160" y="-360"/>
            <a:ext cx="4847040" cy="4113720"/>
          </a:xfrm>
          <a:custGeom>
            <a:avLst/>
            <a:gdLst>
              <a:gd name="textAreaLeft" fmla="*/ 720 w 4847040"/>
              <a:gd name="textAreaRight" fmla="*/ 4848840 w 4847040"/>
              <a:gd name="textAreaTop" fmla="*/ -720 h 4113720"/>
              <a:gd name="textAreaBottom" fmla="*/ 4114080 h 4113720"/>
            </a:gdLst>
            <a:ahLst/>
            <a:rect l="textAreaLeft" t="textAreaTop" r="textAreaRight" b="textAreaBottom"/>
            <a:pathLst>
              <a:path w="4848071" h="4114800">
                <a:moveTo>
                  <a:pt x="4848071" y="4114800"/>
                </a:moveTo>
                <a:lnTo>
                  <a:pt x="0" y="4114800"/>
                </a:lnTo>
                <a:lnTo>
                  <a:pt x="0" y="0"/>
                </a:lnTo>
                <a:lnTo>
                  <a:pt x="4848071" y="0"/>
                </a:lnTo>
                <a:lnTo>
                  <a:pt x="4848071" y="4114800"/>
                </a:lnTo>
                <a:close/>
              </a:path>
            </a:pathLst>
          </a:custGeom>
          <a:blipFill rotWithShape="0">
            <a:blip r:embed="rId2">
              <a:alphaModFix amt="50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69" name="Freeform 4"/>
          <p:cNvSpPr/>
          <p:nvPr/>
        </p:nvSpPr>
        <p:spPr>
          <a:xfrm>
            <a:off x="0" y="6172200"/>
            <a:ext cx="4847040" cy="4113720"/>
          </a:xfrm>
          <a:custGeom>
            <a:avLst/>
            <a:gdLst>
              <a:gd name="textAreaLeft" fmla="*/ 0 w 4847040"/>
              <a:gd name="textAreaRight" fmla="*/ 4848120 w 4847040"/>
              <a:gd name="textAreaTop" fmla="*/ 0 h 4113720"/>
              <a:gd name="textAreaBottom" fmla="*/ 4114800 h 4113720"/>
            </a:gdLst>
            <a:ahLst/>
            <a:rect l="textAreaLeft" t="textAreaTop" r="textAreaRight" b="textAreaBottom"/>
            <a:pathLst>
              <a:path w="4848071" h="4114800">
                <a:moveTo>
                  <a:pt x="0" y="0"/>
                </a:moveTo>
                <a:lnTo>
                  <a:pt x="4848071" y="0"/>
                </a:lnTo>
                <a:lnTo>
                  <a:pt x="4848071" y="4114800"/>
                </a:lnTo>
                <a:lnTo>
                  <a:pt x="0" y="4114800"/>
                </a:lnTo>
                <a:lnTo>
                  <a:pt x="0" y="0"/>
                </a:lnTo>
                <a:close/>
              </a:path>
            </a:pathLst>
          </a:custGeom>
          <a:blipFill rotWithShape="0">
            <a:blip r:embed="rId3">
              <a:alphaModFix amt="51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70" name="Freeform 5"/>
          <p:cNvSpPr/>
          <p:nvPr/>
        </p:nvSpPr>
        <p:spPr>
          <a:xfrm flipH="1">
            <a:off x="14628960" y="6629400"/>
            <a:ext cx="3656520" cy="3656520"/>
          </a:xfrm>
          <a:custGeom>
            <a:avLst/>
            <a:gdLst>
              <a:gd name="textAreaLeft" fmla="*/ -720 w 3656520"/>
              <a:gd name="textAreaRight" fmla="*/ 3656880 w 3656520"/>
              <a:gd name="textAreaTop" fmla="*/ 0 h 3656520"/>
              <a:gd name="textAreaBottom" fmla="*/ 3657600 h 3656520"/>
            </a:gdLst>
            <a:ahLst/>
            <a:rect l="textAreaLeft" t="textAreaTop" r="textAreaRight" b="textAreaBottom"/>
            <a:pathLst>
              <a:path w="3657759" h="3657759">
                <a:moveTo>
                  <a:pt x="3657759" y="0"/>
                </a:moveTo>
                <a:lnTo>
                  <a:pt x="0" y="0"/>
                </a:lnTo>
                <a:lnTo>
                  <a:pt x="0" y="3657759"/>
                </a:lnTo>
                <a:lnTo>
                  <a:pt x="3657759" y="3657759"/>
                </a:lnTo>
                <a:lnTo>
                  <a:pt x="3657759"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71" name="Group 6"/>
          <p:cNvGrpSpPr/>
          <p:nvPr/>
        </p:nvGrpSpPr>
        <p:grpSpPr>
          <a:xfrm>
            <a:off x="1028880" y="922680"/>
            <a:ext cx="16229520" cy="8334720"/>
            <a:chOff x="1028880" y="922680"/>
            <a:chExt cx="16229520" cy="8334720"/>
          </a:xfrm>
        </p:grpSpPr>
        <p:sp>
          <p:nvSpPr>
            <p:cNvPr id="72" name="Freeform 7"/>
            <p:cNvSpPr/>
            <p:nvPr/>
          </p:nvSpPr>
          <p:spPr>
            <a:xfrm>
              <a:off x="1028880" y="1067400"/>
              <a:ext cx="16229520" cy="8190000"/>
            </a:xfrm>
            <a:custGeom>
              <a:avLst/>
              <a:gdLst>
                <a:gd name="textAreaLeft" fmla="*/ 0 w 16229520"/>
                <a:gd name="textAreaRight" fmla="*/ 16230600 w 16229520"/>
                <a:gd name="textAreaTop" fmla="*/ 0 h 8190000"/>
                <a:gd name="textAreaBottom" fmla="*/ 8191080 h 8190000"/>
              </a:gdLst>
              <a:ahLst/>
              <a:rect l="textAreaLeft" t="textAreaTop" r="textAreaRight" b="textAreaBottom"/>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73" name="TextBox 8"/>
            <p:cNvSpPr/>
            <p:nvPr/>
          </p:nvSpPr>
          <p:spPr>
            <a:xfrm>
              <a:off x="1028880" y="922680"/>
              <a:ext cx="16229520" cy="8334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74" name="TextBox 9"/>
          <p:cNvSpPr/>
          <p:nvPr/>
        </p:nvSpPr>
        <p:spPr>
          <a:xfrm>
            <a:off x="1941840" y="1593720"/>
            <a:ext cx="14402880" cy="863280"/>
          </a:xfrm>
          <a:prstGeom prst="rect">
            <a:avLst/>
          </a:prstGeom>
          <a:noFill/>
          <a:ln w="0">
            <a:noFill/>
          </a:ln>
        </p:spPr>
        <p:style>
          <a:lnRef idx="0"/>
          <a:fillRef idx="0"/>
          <a:effectRef idx="0"/>
          <a:fontRef idx="minor"/>
        </p:style>
        <p:txBody>
          <a:bodyPr lIns="0" rIns="0" tIns="0" bIns="0" anchor="t">
            <a:spAutoFit/>
          </a:bodyPr>
          <a:p>
            <a:pPr algn="just" defTabSz="914400">
              <a:lnSpc>
                <a:spcPts val="6800"/>
              </a:lnSpc>
            </a:pPr>
            <a:r>
              <a:rPr b="1" lang="en-US" sz="8500" spc="-1" strike="noStrike">
                <a:solidFill>
                  <a:srgbClr val="14274e"/>
                </a:solidFill>
                <a:latin typeface="Proxima Nova Heavy"/>
                <a:ea typeface="Proxima Nova Heavy"/>
              </a:rPr>
              <a:t> </a:t>
            </a:r>
            <a:r>
              <a:rPr b="1" lang="en-US" sz="8500" spc="-1" strike="noStrike">
                <a:solidFill>
                  <a:srgbClr val="14274e"/>
                </a:solidFill>
                <a:latin typeface="Proxima Nova Heavy"/>
                <a:ea typeface="Proxima Nova Heavy"/>
              </a:rPr>
              <a:t>The preprocessing steps</a:t>
            </a:r>
            <a:endParaRPr b="0" lang="en-US" sz="8500" spc="-1" strike="noStrike">
              <a:solidFill>
                <a:srgbClr val="ffffff"/>
              </a:solidFill>
              <a:latin typeface="Arial"/>
            </a:endParaRPr>
          </a:p>
        </p:txBody>
      </p:sp>
      <p:sp>
        <p:nvSpPr>
          <p:cNvPr id="75" name="TextBox 10"/>
          <p:cNvSpPr/>
          <p:nvPr/>
        </p:nvSpPr>
        <p:spPr>
          <a:xfrm>
            <a:off x="1416600" y="2851560"/>
            <a:ext cx="6861600" cy="1848600"/>
          </a:xfrm>
          <a:prstGeom prst="rect">
            <a:avLst/>
          </a:prstGeom>
          <a:noFill/>
          <a:ln w="0">
            <a:noFill/>
          </a:ln>
        </p:spPr>
        <p:style>
          <a:lnRef idx="0"/>
          <a:fillRef idx="0"/>
          <a:effectRef idx="0"/>
          <a:fontRef idx="minor"/>
        </p:style>
        <p:txBody>
          <a:bodyPr lIns="0" rIns="0" tIns="0" bIns="0" anchor="t">
            <a:spAutoFit/>
          </a:bodyPr>
          <a:p>
            <a:pPr lvl="1" marL="561240" indent="-280800" defTabSz="914400">
              <a:lnSpc>
                <a:spcPts val="3640"/>
              </a:lnSpc>
              <a:buClr>
                <a:srgbClr val="14274e"/>
              </a:buClr>
              <a:buFont typeface="Arial"/>
              <a:buChar char="•"/>
            </a:pPr>
            <a:r>
              <a:rPr b="1" lang="en-US" sz="2600" spc="-1" strike="noStrike">
                <a:solidFill>
                  <a:srgbClr val="14274e"/>
                </a:solidFill>
                <a:latin typeface="Clear Sans Bold"/>
                <a:ea typeface="Clear Sans Bold"/>
              </a:rPr>
              <a:t>Data Collection: Articles were fetched from The Guardian and The New York Times APIs for specific topics and monthly ranges (Jan 2024 - June 2025).</a:t>
            </a:r>
            <a:endParaRPr b="0" lang="en-US" sz="2600" spc="-1" strike="noStrike">
              <a:solidFill>
                <a:srgbClr val="ffffff"/>
              </a:solidFill>
              <a:latin typeface="Arial"/>
            </a:endParaRPr>
          </a:p>
        </p:txBody>
      </p:sp>
      <p:sp>
        <p:nvSpPr>
          <p:cNvPr id="76" name="TextBox 11"/>
          <p:cNvSpPr/>
          <p:nvPr/>
        </p:nvSpPr>
        <p:spPr>
          <a:xfrm>
            <a:off x="9402480" y="2884680"/>
            <a:ext cx="6861600" cy="1386360"/>
          </a:xfrm>
          <a:prstGeom prst="rect">
            <a:avLst/>
          </a:prstGeom>
          <a:noFill/>
          <a:ln w="0">
            <a:noFill/>
          </a:ln>
        </p:spPr>
        <p:style>
          <a:lnRef idx="0"/>
          <a:fillRef idx="0"/>
          <a:effectRef idx="0"/>
          <a:fontRef idx="minor"/>
        </p:style>
        <p:txBody>
          <a:bodyPr lIns="0" rIns="0" tIns="0" bIns="0" anchor="t">
            <a:spAutoFit/>
          </a:bodyPr>
          <a:p>
            <a:pPr lvl="1" marL="561240" indent="-280800" defTabSz="914400">
              <a:lnSpc>
                <a:spcPts val="3640"/>
              </a:lnSpc>
              <a:buClr>
                <a:srgbClr val="14274e"/>
              </a:buClr>
              <a:buFont typeface="Arial"/>
              <a:buChar char="•"/>
            </a:pPr>
            <a:r>
              <a:rPr b="1" lang="en-US" sz="2600" spc="-1" strike="noStrike">
                <a:solidFill>
                  <a:srgbClr val="14274e"/>
                </a:solidFill>
                <a:latin typeface="Clear Sans Bold"/>
                <a:ea typeface="Clear Sans Bold"/>
              </a:rPr>
              <a:t>Structuring: Extracted article details were organized into pandas DataFrames.</a:t>
            </a:r>
            <a:endParaRPr b="0" lang="en-US" sz="2600" spc="-1" strike="noStrike">
              <a:solidFill>
                <a:srgbClr val="ffffff"/>
              </a:solidFill>
              <a:latin typeface="Arial"/>
            </a:endParaRPr>
          </a:p>
        </p:txBody>
      </p:sp>
      <p:sp>
        <p:nvSpPr>
          <p:cNvPr id="77" name="TextBox 12"/>
          <p:cNvSpPr/>
          <p:nvPr/>
        </p:nvSpPr>
        <p:spPr>
          <a:xfrm>
            <a:off x="1619640" y="5581800"/>
            <a:ext cx="6861600" cy="924120"/>
          </a:xfrm>
          <a:prstGeom prst="rect">
            <a:avLst/>
          </a:prstGeom>
          <a:noFill/>
          <a:ln w="0">
            <a:noFill/>
          </a:ln>
        </p:spPr>
        <p:style>
          <a:lnRef idx="0"/>
          <a:fillRef idx="0"/>
          <a:effectRef idx="0"/>
          <a:fontRef idx="minor"/>
        </p:style>
        <p:txBody>
          <a:bodyPr lIns="0" rIns="0" tIns="0" bIns="0" anchor="t">
            <a:spAutoFit/>
          </a:bodyPr>
          <a:p>
            <a:pPr lvl="1" marL="561240" indent="-280800" defTabSz="914400">
              <a:lnSpc>
                <a:spcPts val="3640"/>
              </a:lnSpc>
              <a:buClr>
                <a:srgbClr val="14274e"/>
              </a:buClr>
              <a:buFont typeface="Arial"/>
              <a:buChar char="•"/>
            </a:pPr>
            <a:r>
              <a:rPr b="1" lang="en-US" sz="2600" spc="-1" strike="noStrike">
                <a:solidFill>
                  <a:srgbClr val="14274e"/>
                </a:solidFill>
                <a:latin typeface="Clear Sans Bold"/>
                <a:ea typeface="Clear Sans Bold"/>
              </a:rPr>
              <a:t>Merging: DataFrames from both sources were combined.</a:t>
            </a:r>
            <a:endParaRPr b="0" lang="en-US" sz="2600" spc="-1" strike="noStrike">
              <a:solidFill>
                <a:srgbClr val="ffffff"/>
              </a:solidFill>
              <a:latin typeface="Arial"/>
            </a:endParaRPr>
          </a:p>
        </p:txBody>
      </p:sp>
      <p:sp>
        <p:nvSpPr>
          <p:cNvPr id="78" name="TextBox 13"/>
          <p:cNvSpPr/>
          <p:nvPr/>
        </p:nvSpPr>
        <p:spPr>
          <a:xfrm>
            <a:off x="9402480" y="5124600"/>
            <a:ext cx="6861600" cy="1386360"/>
          </a:xfrm>
          <a:prstGeom prst="rect">
            <a:avLst/>
          </a:prstGeom>
          <a:noFill/>
          <a:ln w="0">
            <a:noFill/>
          </a:ln>
        </p:spPr>
        <p:style>
          <a:lnRef idx="0"/>
          <a:fillRef idx="0"/>
          <a:effectRef idx="0"/>
          <a:fontRef idx="minor"/>
        </p:style>
        <p:txBody>
          <a:bodyPr lIns="0" rIns="0" tIns="0" bIns="0" anchor="t">
            <a:spAutoFit/>
          </a:bodyPr>
          <a:p>
            <a:pPr lvl="1" marL="561240" indent="-280800" defTabSz="914400">
              <a:lnSpc>
                <a:spcPts val="3640"/>
              </a:lnSpc>
              <a:buClr>
                <a:srgbClr val="14274e"/>
              </a:buClr>
              <a:buFont typeface="Arial"/>
              <a:buChar char="•"/>
            </a:pPr>
            <a:r>
              <a:rPr b="1" lang="en-US" sz="2600" spc="-1" strike="noStrike">
                <a:solidFill>
                  <a:srgbClr val="14274e"/>
                </a:solidFill>
                <a:latin typeface="Clear Sans Bold"/>
                <a:ea typeface="Clear Sans Bold"/>
              </a:rPr>
              <a:t>Cleaning: Duplicate articles were removed, and rows with missing headlines were dropped.</a:t>
            </a:r>
            <a:endParaRPr b="0" lang="en-US" sz="2600" spc="-1" strike="noStrike">
              <a:solidFill>
                <a:srgbClr val="ffffff"/>
              </a:solidFill>
              <a:latin typeface="Arial"/>
            </a:endParaRPr>
          </a:p>
        </p:txBody>
      </p:sp>
      <p:sp>
        <p:nvSpPr>
          <p:cNvPr id="79" name="TextBox 14"/>
          <p:cNvSpPr/>
          <p:nvPr/>
        </p:nvSpPr>
        <p:spPr>
          <a:xfrm>
            <a:off x="5404680" y="7068600"/>
            <a:ext cx="6861600" cy="924120"/>
          </a:xfrm>
          <a:prstGeom prst="rect">
            <a:avLst/>
          </a:prstGeom>
          <a:noFill/>
          <a:ln w="0">
            <a:noFill/>
          </a:ln>
        </p:spPr>
        <p:style>
          <a:lnRef idx="0"/>
          <a:fillRef idx="0"/>
          <a:effectRef idx="0"/>
          <a:fontRef idx="minor"/>
        </p:style>
        <p:txBody>
          <a:bodyPr lIns="0" rIns="0" tIns="0" bIns="0" anchor="t">
            <a:spAutoFit/>
          </a:bodyPr>
          <a:p>
            <a:pPr lvl="1" marL="561240" indent="-280800" defTabSz="914400">
              <a:lnSpc>
                <a:spcPts val="3640"/>
              </a:lnSpc>
              <a:buClr>
                <a:srgbClr val="14274e"/>
              </a:buClr>
              <a:buFont typeface="Arial"/>
              <a:buChar char="•"/>
            </a:pPr>
            <a:r>
              <a:rPr b="1" lang="en-US" sz="2600" spc="-1" strike="noStrike">
                <a:solidFill>
                  <a:srgbClr val="14274e"/>
                </a:solidFill>
                <a:latin typeface="Clear Sans Bold"/>
                <a:ea typeface="Clear Sans Bold"/>
              </a:rPr>
              <a:t>Saving: The final dataset was saved to final_10_dataset.csv.</a:t>
            </a:r>
            <a:endParaRPr b="0" lang="en-US" sz="2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80" name="Freeform 2"/>
          <p:cNvSpPr/>
          <p:nvPr/>
        </p:nvSpPr>
        <p:spPr>
          <a:xfrm flipV="1">
            <a:off x="0" y="-1440"/>
            <a:ext cx="3969720" cy="4113720"/>
          </a:xfrm>
          <a:custGeom>
            <a:avLst/>
            <a:gdLst>
              <a:gd name="textAreaLeft" fmla="*/ 0 w 3969720"/>
              <a:gd name="textAreaRight" fmla="*/ 3970800 w 3969720"/>
              <a:gd name="textAreaTop" fmla="*/ -720 h 4113720"/>
              <a:gd name="textAreaBottom" fmla="*/ 4114080 h 4113720"/>
            </a:gdLst>
            <a:ahLst/>
            <a:rect l="textAreaLeft" t="textAreaTop" r="textAreaRight" b="textAreaBottom"/>
            <a:pathLst>
              <a:path w="3970782" h="4114800">
                <a:moveTo>
                  <a:pt x="0" y="4114800"/>
                </a:moveTo>
                <a:lnTo>
                  <a:pt x="3970782" y="4114800"/>
                </a:lnTo>
                <a:lnTo>
                  <a:pt x="3970782" y="0"/>
                </a:lnTo>
                <a:lnTo>
                  <a:pt x="0" y="0"/>
                </a:lnTo>
                <a:lnTo>
                  <a:pt x="0" y="4114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81" name="Freeform 3"/>
          <p:cNvSpPr/>
          <p:nvPr/>
        </p:nvSpPr>
        <p:spPr>
          <a:xfrm flipH="1">
            <a:off x="14315760" y="6172200"/>
            <a:ext cx="3969720" cy="4113720"/>
          </a:xfrm>
          <a:custGeom>
            <a:avLst/>
            <a:gdLst>
              <a:gd name="textAreaLeft" fmla="*/ -720 w 3969720"/>
              <a:gd name="textAreaRight" fmla="*/ 3970080 w 3969720"/>
              <a:gd name="textAreaTop" fmla="*/ 0 h 4113720"/>
              <a:gd name="textAreaBottom" fmla="*/ 4114800 h 4113720"/>
            </a:gdLst>
            <a:ahLst/>
            <a:rect l="textAreaLeft" t="textAreaTop" r="textAreaRight" b="textAreaBottom"/>
            <a:pathLst>
              <a:path w="3970782" h="4114800">
                <a:moveTo>
                  <a:pt x="3970782" y="0"/>
                </a:moveTo>
                <a:lnTo>
                  <a:pt x="0" y="0"/>
                </a:lnTo>
                <a:lnTo>
                  <a:pt x="0" y="4114800"/>
                </a:lnTo>
                <a:lnTo>
                  <a:pt x="3970782" y="4114800"/>
                </a:lnTo>
                <a:lnTo>
                  <a:pt x="3970782"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82" name="Group 4"/>
          <p:cNvGrpSpPr/>
          <p:nvPr/>
        </p:nvGrpSpPr>
        <p:grpSpPr>
          <a:xfrm>
            <a:off x="156600" y="212040"/>
            <a:ext cx="18038160" cy="9868680"/>
            <a:chOff x="156600" y="212040"/>
            <a:chExt cx="18038160" cy="9868680"/>
          </a:xfrm>
        </p:grpSpPr>
        <p:sp>
          <p:nvSpPr>
            <p:cNvPr id="83" name="Freeform 5"/>
            <p:cNvSpPr/>
            <p:nvPr/>
          </p:nvSpPr>
          <p:spPr>
            <a:xfrm>
              <a:off x="156600" y="356760"/>
              <a:ext cx="18038160" cy="9723960"/>
            </a:xfrm>
            <a:custGeom>
              <a:avLst/>
              <a:gdLst>
                <a:gd name="textAreaLeft" fmla="*/ 0 w 18038160"/>
                <a:gd name="textAreaRight" fmla="*/ 18039240 w 18038160"/>
                <a:gd name="textAreaTop" fmla="*/ 0 h 9723960"/>
                <a:gd name="textAreaBottom" fmla="*/ 9725040 h 9723960"/>
              </a:gdLst>
              <a:ahLst/>
              <a:rect l="textAreaLeft" t="textAreaTop" r="textAreaRight" b="textAreaBottom"/>
              <a:pathLst>
                <a:path w="4751093" h="2561356">
                  <a:moveTo>
                    <a:pt x="21888" y="0"/>
                  </a:moveTo>
                  <a:lnTo>
                    <a:pt x="4729205" y="0"/>
                  </a:lnTo>
                  <a:cubicBezTo>
                    <a:pt x="4735010" y="0"/>
                    <a:pt x="4740577" y="2306"/>
                    <a:pt x="4744682" y="6411"/>
                  </a:cubicBezTo>
                  <a:cubicBezTo>
                    <a:pt x="4748787" y="10515"/>
                    <a:pt x="4751093" y="16083"/>
                    <a:pt x="4751093" y="21888"/>
                  </a:cubicBezTo>
                  <a:lnTo>
                    <a:pt x="4751093" y="2539469"/>
                  </a:lnTo>
                  <a:cubicBezTo>
                    <a:pt x="4751093" y="2545274"/>
                    <a:pt x="4748787" y="2550841"/>
                    <a:pt x="4744682" y="2554946"/>
                  </a:cubicBezTo>
                  <a:cubicBezTo>
                    <a:pt x="4740577" y="2559050"/>
                    <a:pt x="4735010" y="2561356"/>
                    <a:pt x="4729205" y="2561356"/>
                  </a:cubicBezTo>
                  <a:lnTo>
                    <a:pt x="21888" y="2561356"/>
                  </a:lnTo>
                  <a:cubicBezTo>
                    <a:pt x="16083" y="2561356"/>
                    <a:pt x="10515" y="2559050"/>
                    <a:pt x="6411" y="2554946"/>
                  </a:cubicBezTo>
                  <a:cubicBezTo>
                    <a:pt x="2306" y="2550841"/>
                    <a:pt x="0" y="2545274"/>
                    <a:pt x="0" y="2539469"/>
                  </a:cubicBezTo>
                  <a:lnTo>
                    <a:pt x="0" y="21888"/>
                  </a:lnTo>
                  <a:cubicBezTo>
                    <a:pt x="0" y="16083"/>
                    <a:pt x="2306" y="10515"/>
                    <a:pt x="6411" y="6411"/>
                  </a:cubicBezTo>
                  <a:cubicBezTo>
                    <a:pt x="10515" y="2306"/>
                    <a:pt x="16083" y="0"/>
                    <a:pt x="21888"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84" name="TextBox 6"/>
            <p:cNvSpPr/>
            <p:nvPr/>
          </p:nvSpPr>
          <p:spPr>
            <a:xfrm>
              <a:off x="156600" y="212040"/>
              <a:ext cx="18038160" cy="98686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85" name="Freeform 7"/>
          <p:cNvSpPr/>
          <p:nvPr/>
        </p:nvSpPr>
        <p:spPr>
          <a:xfrm>
            <a:off x="8360640" y="1770840"/>
            <a:ext cx="8409240" cy="8002080"/>
          </a:xfrm>
          <a:custGeom>
            <a:avLst/>
            <a:gdLst>
              <a:gd name="textAreaLeft" fmla="*/ 0 w 8409240"/>
              <a:gd name="textAreaRight" fmla="*/ 8410320 w 8409240"/>
              <a:gd name="textAreaTop" fmla="*/ 0 h 8002080"/>
              <a:gd name="textAreaBottom" fmla="*/ 8003160 h 8002080"/>
            </a:gdLst>
            <a:ahLst/>
            <a:rect l="textAreaLeft" t="textAreaTop" r="textAreaRight" b="textAreaBottom"/>
            <a:pathLst>
              <a:path w="8410441" h="8003255">
                <a:moveTo>
                  <a:pt x="0" y="0"/>
                </a:moveTo>
                <a:lnTo>
                  <a:pt x="8410440" y="0"/>
                </a:lnTo>
                <a:lnTo>
                  <a:pt x="8410440" y="8003255"/>
                </a:lnTo>
                <a:lnTo>
                  <a:pt x="0" y="8003255"/>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86" name="TextBox 8"/>
          <p:cNvSpPr/>
          <p:nvPr/>
        </p:nvSpPr>
        <p:spPr>
          <a:xfrm>
            <a:off x="689400" y="3525480"/>
            <a:ext cx="7201440" cy="4064760"/>
          </a:xfrm>
          <a:prstGeom prst="rect">
            <a:avLst/>
          </a:prstGeom>
          <a:noFill/>
          <a:ln w="0">
            <a:noFill/>
          </a:ln>
        </p:spPr>
        <p:style>
          <a:lnRef idx="0"/>
          <a:fillRef idx="0"/>
          <a:effectRef idx="0"/>
          <a:fontRef idx="minor"/>
        </p:style>
        <p:txBody>
          <a:bodyPr lIns="0" rIns="0" tIns="0" bIns="0" anchor="t">
            <a:spAutoFit/>
          </a:bodyPr>
          <a:p>
            <a:pPr lvl="1" marL="822600" indent="-411480" defTabSz="914400">
              <a:lnSpc>
                <a:spcPts val="5335"/>
              </a:lnSpc>
              <a:buClr>
                <a:srgbClr val="14274e"/>
              </a:buClr>
              <a:buFont typeface="Arial"/>
              <a:buChar char="•"/>
            </a:pPr>
            <a:r>
              <a:rPr b="0" lang="en-US" sz="3800" spc="-1" strike="noStrike">
                <a:solidFill>
                  <a:srgbClr val="14274e"/>
                </a:solidFill>
                <a:latin typeface="Clear Sans"/>
                <a:ea typeface="Clear Sans"/>
              </a:rPr>
              <a:t>The confidence intervals for the 'Before Election' and 'After Election' sentiment scores overlap. Therefore, the change in sentiment is NOT statistically significant.</a:t>
            </a:r>
            <a:endParaRPr b="0" lang="en-US" sz="3800" spc="-1" strike="noStrike">
              <a:solidFill>
                <a:srgbClr val="ffffff"/>
              </a:solidFill>
              <a:latin typeface="Arial"/>
            </a:endParaRPr>
          </a:p>
        </p:txBody>
      </p:sp>
      <p:sp>
        <p:nvSpPr>
          <p:cNvPr id="87" name="TextBox 9"/>
          <p:cNvSpPr/>
          <p:nvPr/>
        </p:nvSpPr>
        <p:spPr>
          <a:xfrm>
            <a:off x="332640" y="689400"/>
            <a:ext cx="16260120" cy="1523520"/>
          </a:xfrm>
          <a:prstGeom prst="rect">
            <a:avLst/>
          </a:prstGeom>
          <a:noFill/>
          <a:ln w="0">
            <a:noFill/>
          </a:ln>
        </p:spPr>
        <p:style>
          <a:lnRef idx="0"/>
          <a:fillRef idx="0"/>
          <a:effectRef idx="0"/>
          <a:fontRef idx="minor"/>
        </p:style>
        <p:txBody>
          <a:bodyPr lIns="0" rIns="0" tIns="0" bIns="0" anchor="t">
            <a:spAutoFit/>
          </a:bodyPr>
          <a:p>
            <a:pPr algn="just" defTabSz="914400">
              <a:lnSpc>
                <a:spcPts val="4000"/>
              </a:lnSpc>
            </a:pPr>
            <a:r>
              <a:rPr b="1" lang="en-US" sz="5000" spc="-1" strike="noStrike">
                <a:solidFill>
                  <a:srgbClr val="14274e"/>
                </a:solidFill>
                <a:latin typeface="Proxima Nova Heavy"/>
                <a:ea typeface="Proxima Nova Heavy"/>
              </a:rPr>
              <a:t>Does the sentiment of political headlines change significantly before and after election dates?</a:t>
            </a:r>
            <a:endParaRPr b="0" lang="en-US" sz="5000" spc="-1" strike="noStrike">
              <a:solidFill>
                <a:srgbClr val="ffffff"/>
              </a:solidFill>
              <a:latin typeface="Arial"/>
            </a:endParaRPr>
          </a:p>
          <a:p>
            <a:pPr algn="just" defTabSz="914400">
              <a:lnSpc>
                <a:spcPts val="400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88" name="Freeform 2"/>
          <p:cNvSpPr/>
          <p:nvPr/>
        </p:nvSpPr>
        <p:spPr>
          <a:xfrm flipV="1">
            <a:off x="0" y="-1440"/>
            <a:ext cx="3969720" cy="4113720"/>
          </a:xfrm>
          <a:custGeom>
            <a:avLst/>
            <a:gdLst>
              <a:gd name="textAreaLeft" fmla="*/ 0 w 3969720"/>
              <a:gd name="textAreaRight" fmla="*/ 3970800 w 3969720"/>
              <a:gd name="textAreaTop" fmla="*/ -720 h 4113720"/>
              <a:gd name="textAreaBottom" fmla="*/ 4114080 h 4113720"/>
            </a:gdLst>
            <a:ahLst/>
            <a:rect l="textAreaLeft" t="textAreaTop" r="textAreaRight" b="textAreaBottom"/>
            <a:pathLst>
              <a:path w="3970782" h="4114800">
                <a:moveTo>
                  <a:pt x="0" y="4114800"/>
                </a:moveTo>
                <a:lnTo>
                  <a:pt x="3970782" y="4114800"/>
                </a:lnTo>
                <a:lnTo>
                  <a:pt x="3970782" y="0"/>
                </a:lnTo>
                <a:lnTo>
                  <a:pt x="0" y="0"/>
                </a:lnTo>
                <a:lnTo>
                  <a:pt x="0" y="4114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89" name="Freeform 3"/>
          <p:cNvSpPr/>
          <p:nvPr/>
        </p:nvSpPr>
        <p:spPr>
          <a:xfrm flipH="1">
            <a:off x="14315760" y="6172200"/>
            <a:ext cx="3969720" cy="4113720"/>
          </a:xfrm>
          <a:custGeom>
            <a:avLst/>
            <a:gdLst>
              <a:gd name="textAreaLeft" fmla="*/ -720 w 3969720"/>
              <a:gd name="textAreaRight" fmla="*/ 3970080 w 3969720"/>
              <a:gd name="textAreaTop" fmla="*/ 0 h 4113720"/>
              <a:gd name="textAreaBottom" fmla="*/ 4114800 h 4113720"/>
            </a:gdLst>
            <a:ahLst/>
            <a:rect l="textAreaLeft" t="textAreaTop" r="textAreaRight" b="textAreaBottom"/>
            <a:pathLst>
              <a:path w="3970782" h="4114800">
                <a:moveTo>
                  <a:pt x="3970782" y="0"/>
                </a:moveTo>
                <a:lnTo>
                  <a:pt x="0" y="0"/>
                </a:lnTo>
                <a:lnTo>
                  <a:pt x="0" y="4114800"/>
                </a:lnTo>
                <a:lnTo>
                  <a:pt x="3970782" y="4114800"/>
                </a:lnTo>
                <a:lnTo>
                  <a:pt x="3970782"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90" name="Group 4"/>
          <p:cNvGrpSpPr/>
          <p:nvPr/>
        </p:nvGrpSpPr>
        <p:grpSpPr>
          <a:xfrm>
            <a:off x="156600" y="212040"/>
            <a:ext cx="18038160" cy="9868680"/>
            <a:chOff x="156600" y="212040"/>
            <a:chExt cx="18038160" cy="9868680"/>
          </a:xfrm>
        </p:grpSpPr>
        <p:sp>
          <p:nvSpPr>
            <p:cNvPr id="91" name="Freeform 5"/>
            <p:cNvSpPr/>
            <p:nvPr/>
          </p:nvSpPr>
          <p:spPr>
            <a:xfrm>
              <a:off x="156600" y="356760"/>
              <a:ext cx="18038160" cy="9723960"/>
            </a:xfrm>
            <a:custGeom>
              <a:avLst/>
              <a:gdLst>
                <a:gd name="textAreaLeft" fmla="*/ 0 w 18038160"/>
                <a:gd name="textAreaRight" fmla="*/ 18039240 w 18038160"/>
                <a:gd name="textAreaTop" fmla="*/ 0 h 9723960"/>
                <a:gd name="textAreaBottom" fmla="*/ 9725040 h 9723960"/>
              </a:gdLst>
              <a:ahLst/>
              <a:rect l="textAreaLeft" t="textAreaTop" r="textAreaRight" b="textAreaBottom"/>
              <a:pathLst>
                <a:path w="4751093" h="2561356">
                  <a:moveTo>
                    <a:pt x="21888" y="0"/>
                  </a:moveTo>
                  <a:lnTo>
                    <a:pt x="4729205" y="0"/>
                  </a:lnTo>
                  <a:cubicBezTo>
                    <a:pt x="4735010" y="0"/>
                    <a:pt x="4740577" y="2306"/>
                    <a:pt x="4744682" y="6411"/>
                  </a:cubicBezTo>
                  <a:cubicBezTo>
                    <a:pt x="4748787" y="10515"/>
                    <a:pt x="4751093" y="16083"/>
                    <a:pt x="4751093" y="21888"/>
                  </a:cubicBezTo>
                  <a:lnTo>
                    <a:pt x="4751093" y="2539469"/>
                  </a:lnTo>
                  <a:cubicBezTo>
                    <a:pt x="4751093" y="2545274"/>
                    <a:pt x="4748787" y="2550841"/>
                    <a:pt x="4744682" y="2554946"/>
                  </a:cubicBezTo>
                  <a:cubicBezTo>
                    <a:pt x="4740577" y="2559050"/>
                    <a:pt x="4735010" y="2561356"/>
                    <a:pt x="4729205" y="2561356"/>
                  </a:cubicBezTo>
                  <a:lnTo>
                    <a:pt x="21888" y="2561356"/>
                  </a:lnTo>
                  <a:cubicBezTo>
                    <a:pt x="16083" y="2561356"/>
                    <a:pt x="10515" y="2559050"/>
                    <a:pt x="6411" y="2554946"/>
                  </a:cubicBezTo>
                  <a:cubicBezTo>
                    <a:pt x="2306" y="2550841"/>
                    <a:pt x="0" y="2545274"/>
                    <a:pt x="0" y="2539469"/>
                  </a:cubicBezTo>
                  <a:lnTo>
                    <a:pt x="0" y="21888"/>
                  </a:lnTo>
                  <a:cubicBezTo>
                    <a:pt x="0" y="16083"/>
                    <a:pt x="2306" y="10515"/>
                    <a:pt x="6411" y="6411"/>
                  </a:cubicBezTo>
                  <a:cubicBezTo>
                    <a:pt x="10515" y="2306"/>
                    <a:pt x="16083" y="0"/>
                    <a:pt x="21888"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92" name="TextBox 6"/>
            <p:cNvSpPr/>
            <p:nvPr/>
          </p:nvSpPr>
          <p:spPr>
            <a:xfrm>
              <a:off x="156600" y="212040"/>
              <a:ext cx="18038160" cy="98686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93" name="Freeform 7"/>
          <p:cNvSpPr/>
          <p:nvPr/>
        </p:nvSpPr>
        <p:spPr>
          <a:xfrm>
            <a:off x="9144000" y="1754640"/>
            <a:ext cx="8033400" cy="8054640"/>
          </a:xfrm>
          <a:custGeom>
            <a:avLst/>
            <a:gdLst>
              <a:gd name="textAreaLeft" fmla="*/ 0 w 8033400"/>
              <a:gd name="textAreaRight" fmla="*/ 8034480 w 8033400"/>
              <a:gd name="textAreaTop" fmla="*/ 0 h 8054640"/>
              <a:gd name="textAreaBottom" fmla="*/ 8055720 h 8054640"/>
            </a:gdLst>
            <a:ahLst/>
            <a:rect l="textAreaLeft" t="textAreaTop" r="textAreaRight" b="textAreaBottom"/>
            <a:pathLst>
              <a:path w="8034655" h="8055753">
                <a:moveTo>
                  <a:pt x="0" y="0"/>
                </a:moveTo>
                <a:lnTo>
                  <a:pt x="8034655" y="0"/>
                </a:lnTo>
                <a:lnTo>
                  <a:pt x="8034655" y="8055753"/>
                </a:lnTo>
                <a:lnTo>
                  <a:pt x="0" y="8055753"/>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94" name="TextBox 8"/>
          <p:cNvSpPr/>
          <p:nvPr/>
        </p:nvSpPr>
        <p:spPr>
          <a:xfrm>
            <a:off x="689400" y="3525480"/>
            <a:ext cx="7201440" cy="3387240"/>
          </a:xfrm>
          <a:prstGeom prst="rect">
            <a:avLst/>
          </a:prstGeom>
          <a:noFill/>
          <a:ln w="0">
            <a:noFill/>
          </a:ln>
        </p:spPr>
        <p:style>
          <a:lnRef idx="0"/>
          <a:fillRef idx="0"/>
          <a:effectRef idx="0"/>
          <a:fontRef idx="minor"/>
        </p:style>
        <p:txBody>
          <a:bodyPr lIns="0" rIns="0" tIns="0" bIns="0" anchor="t">
            <a:spAutoFit/>
          </a:bodyPr>
          <a:p>
            <a:pPr lvl="1" marL="822600" indent="-411480" defTabSz="914400">
              <a:lnSpc>
                <a:spcPts val="5335"/>
              </a:lnSpc>
              <a:buClr>
                <a:srgbClr val="14274e"/>
              </a:buClr>
              <a:buFont typeface="Arial"/>
              <a:buChar char="•"/>
            </a:pPr>
            <a:r>
              <a:rPr b="0" lang="en-US" sz="3800" spc="-1" strike="noStrike">
                <a:solidFill>
                  <a:srgbClr val="14274e"/>
                </a:solidFill>
                <a:latin typeface="Clear Sans"/>
                <a:ea typeface="Clear Sans"/>
              </a:rPr>
              <a:t>Economy news headlines are actually MORE negative than political news headlines, on average, within this dataset.</a:t>
            </a:r>
            <a:endParaRPr b="0" lang="en-US" sz="3800" spc="-1" strike="noStrike">
              <a:solidFill>
                <a:srgbClr val="ffffff"/>
              </a:solidFill>
              <a:latin typeface="Arial"/>
            </a:endParaRPr>
          </a:p>
        </p:txBody>
      </p:sp>
      <p:sp>
        <p:nvSpPr>
          <p:cNvPr id="95" name="TextBox 9"/>
          <p:cNvSpPr/>
          <p:nvPr/>
        </p:nvSpPr>
        <p:spPr>
          <a:xfrm>
            <a:off x="510120" y="689400"/>
            <a:ext cx="16260120" cy="2031480"/>
          </a:xfrm>
          <a:prstGeom prst="rect">
            <a:avLst/>
          </a:prstGeom>
          <a:noFill/>
          <a:ln w="0">
            <a:noFill/>
          </a:ln>
        </p:spPr>
        <p:style>
          <a:lnRef idx="0"/>
          <a:fillRef idx="0"/>
          <a:effectRef idx="0"/>
          <a:fontRef idx="minor"/>
        </p:style>
        <p:txBody>
          <a:bodyPr lIns="0" rIns="0" tIns="0" bIns="0" anchor="t">
            <a:spAutoFit/>
          </a:bodyPr>
          <a:p>
            <a:pPr algn="just" defTabSz="914400">
              <a:lnSpc>
                <a:spcPts val="4000"/>
              </a:lnSpc>
            </a:pPr>
            <a:r>
              <a:rPr b="1" lang="en-US" sz="5000" spc="-1" strike="noStrike">
                <a:solidFill>
                  <a:srgbClr val="14274e"/>
                </a:solidFill>
                <a:latin typeface="Proxima Nova Heavy"/>
                <a:ea typeface="Proxima Nova Heavy"/>
              </a:rPr>
              <a:t>Are news outlets more likely to use negative sentiment words in political coverage compared to economic news?</a:t>
            </a:r>
            <a:endParaRPr b="0" lang="en-US" sz="5000" spc="-1" strike="noStrike">
              <a:solidFill>
                <a:srgbClr val="ffffff"/>
              </a:solidFill>
              <a:latin typeface="Arial"/>
            </a:endParaRPr>
          </a:p>
          <a:p>
            <a:pPr algn="just" defTabSz="914400">
              <a:lnSpc>
                <a:spcPts val="400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96" name="Freeform 2"/>
          <p:cNvSpPr/>
          <p:nvPr/>
        </p:nvSpPr>
        <p:spPr>
          <a:xfrm flipV="1">
            <a:off x="0" y="-1440"/>
            <a:ext cx="3969720" cy="4113720"/>
          </a:xfrm>
          <a:custGeom>
            <a:avLst/>
            <a:gdLst>
              <a:gd name="textAreaLeft" fmla="*/ 0 w 3969720"/>
              <a:gd name="textAreaRight" fmla="*/ 3970800 w 3969720"/>
              <a:gd name="textAreaTop" fmla="*/ -720 h 4113720"/>
              <a:gd name="textAreaBottom" fmla="*/ 4114080 h 4113720"/>
            </a:gdLst>
            <a:ahLst/>
            <a:rect l="textAreaLeft" t="textAreaTop" r="textAreaRight" b="textAreaBottom"/>
            <a:pathLst>
              <a:path w="3970782" h="4114800">
                <a:moveTo>
                  <a:pt x="0" y="4114800"/>
                </a:moveTo>
                <a:lnTo>
                  <a:pt x="3970782" y="4114800"/>
                </a:lnTo>
                <a:lnTo>
                  <a:pt x="3970782" y="0"/>
                </a:lnTo>
                <a:lnTo>
                  <a:pt x="0" y="0"/>
                </a:lnTo>
                <a:lnTo>
                  <a:pt x="0" y="4114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97" name="Freeform 3"/>
          <p:cNvSpPr/>
          <p:nvPr/>
        </p:nvSpPr>
        <p:spPr>
          <a:xfrm flipH="1">
            <a:off x="14315760" y="6172200"/>
            <a:ext cx="3969720" cy="4113720"/>
          </a:xfrm>
          <a:custGeom>
            <a:avLst/>
            <a:gdLst>
              <a:gd name="textAreaLeft" fmla="*/ -720 w 3969720"/>
              <a:gd name="textAreaRight" fmla="*/ 3970080 w 3969720"/>
              <a:gd name="textAreaTop" fmla="*/ 0 h 4113720"/>
              <a:gd name="textAreaBottom" fmla="*/ 4114800 h 4113720"/>
            </a:gdLst>
            <a:ahLst/>
            <a:rect l="textAreaLeft" t="textAreaTop" r="textAreaRight" b="textAreaBottom"/>
            <a:pathLst>
              <a:path w="3970782" h="4114800">
                <a:moveTo>
                  <a:pt x="3970782" y="0"/>
                </a:moveTo>
                <a:lnTo>
                  <a:pt x="0" y="0"/>
                </a:lnTo>
                <a:lnTo>
                  <a:pt x="0" y="4114800"/>
                </a:lnTo>
                <a:lnTo>
                  <a:pt x="3970782" y="4114800"/>
                </a:lnTo>
                <a:lnTo>
                  <a:pt x="3970782"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98" name="Group 4"/>
          <p:cNvGrpSpPr/>
          <p:nvPr/>
        </p:nvGrpSpPr>
        <p:grpSpPr>
          <a:xfrm>
            <a:off x="156600" y="212040"/>
            <a:ext cx="18038160" cy="9868680"/>
            <a:chOff x="156600" y="212040"/>
            <a:chExt cx="18038160" cy="9868680"/>
          </a:xfrm>
        </p:grpSpPr>
        <p:sp>
          <p:nvSpPr>
            <p:cNvPr id="99" name="Freeform 5"/>
            <p:cNvSpPr/>
            <p:nvPr/>
          </p:nvSpPr>
          <p:spPr>
            <a:xfrm>
              <a:off x="156600" y="356760"/>
              <a:ext cx="18038160" cy="9723960"/>
            </a:xfrm>
            <a:custGeom>
              <a:avLst/>
              <a:gdLst>
                <a:gd name="textAreaLeft" fmla="*/ 0 w 18038160"/>
                <a:gd name="textAreaRight" fmla="*/ 18039240 w 18038160"/>
                <a:gd name="textAreaTop" fmla="*/ 0 h 9723960"/>
                <a:gd name="textAreaBottom" fmla="*/ 9725040 h 9723960"/>
              </a:gdLst>
              <a:ahLst/>
              <a:rect l="textAreaLeft" t="textAreaTop" r="textAreaRight" b="textAreaBottom"/>
              <a:pathLst>
                <a:path w="4751093" h="2561356">
                  <a:moveTo>
                    <a:pt x="21888" y="0"/>
                  </a:moveTo>
                  <a:lnTo>
                    <a:pt x="4729205" y="0"/>
                  </a:lnTo>
                  <a:cubicBezTo>
                    <a:pt x="4735010" y="0"/>
                    <a:pt x="4740577" y="2306"/>
                    <a:pt x="4744682" y="6411"/>
                  </a:cubicBezTo>
                  <a:cubicBezTo>
                    <a:pt x="4748787" y="10515"/>
                    <a:pt x="4751093" y="16083"/>
                    <a:pt x="4751093" y="21888"/>
                  </a:cubicBezTo>
                  <a:lnTo>
                    <a:pt x="4751093" y="2539469"/>
                  </a:lnTo>
                  <a:cubicBezTo>
                    <a:pt x="4751093" y="2545274"/>
                    <a:pt x="4748787" y="2550841"/>
                    <a:pt x="4744682" y="2554946"/>
                  </a:cubicBezTo>
                  <a:cubicBezTo>
                    <a:pt x="4740577" y="2559050"/>
                    <a:pt x="4735010" y="2561356"/>
                    <a:pt x="4729205" y="2561356"/>
                  </a:cubicBezTo>
                  <a:lnTo>
                    <a:pt x="21888" y="2561356"/>
                  </a:lnTo>
                  <a:cubicBezTo>
                    <a:pt x="16083" y="2561356"/>
                    <a:pt x="10515" y="2559050"/>
                    <a:pt x="6411" y="2554946"/>
                  </a:cubicBezTo>
                  <a:cubicBezTo>
                    <a:pt x="2306" y="2550841"/>
                    <a:pt x="0" y="2545274"/>
                    <a:pt x="0" y="2539469"/>
                  </a:cubicBezTo>
                  <a:lnTo>
                    <a:pt x="0" y="21888"/>
                  </a:lnTo>
                  <a:cubicBezTo>
                    <a:pt x="0" y="16083"/>
                    <a:pt x="2306" y="10515"/>
                    <a:pt x="6411" y="6411"/>
                  </a:cubicBezTo>
                  <a:cubicBezTo>
                    <a:pt x="10515" y="2306"/>
                    <a:pt x="16083" y="0"/>
                    <a:pt x="21888"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00" name="TextBox 6"/>
            <p:cNvSpPr/>
            <p:nvPr/>
          </p:nvSpPr>
          <p:spPr>
            <a:xfrm>
              <a:off x="156600" y="212040"/>
              <a:ext cx="18038160" cy="98686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101" name="Freeform 7"/>
          <p:cNvSpPr/>
          <p:nvPr/>
        </p:nvSpPr>
        <p:spPr>
          <a:xfrm>
            <a:off x="7859520" y="1782720"/>
            <a:ext cx="10040400" cy="7967880"/>
          </a:xfrm>
          <a:custGeom>
            <a:avLst/>
            <a:gdLst>
              <a:gd name="textAreaLeft" fmla="*/ 0 w 10040400"/>
              <a:gd name="textAreaRight" fmla="*/ 10041480 w 10040400"/>
              <a:gd name="textAreaTop" fmla="*/ 0 h 7967880"/>
              <a:gd name="textAreaBottom" fmla="*/ 7968960 h 7967880"/>
            </a:gdLst>
            <a:ahLst/>
            <a:rect l="textAreaLeft" t="textAreaTop" r="textAreaRight" b="textAreaBottom"/>
            <a:pathLst>
              <a:path w="10041573" h="7968815">
                <a:moveTo>
                  <a:pt x="0" y="0"/>
                </a:moveTo>
                <a:lnTo>
                  <a:pt x="10041573" y="0"/>
                </a:lnTo>
                <a:lnTo>
                  <a:pt x="10041573" y="7968815"/>
                </a:lnTo>
                <a:lnTo>
                  <a:pt x="0" y="7968815"/>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02" name="TextBox 8"/>
          <p:cNvSpPr/>
          <p:nvPr/>
        </p:nvSpPr>
        <p:spPr>
          <a:xfrm>
            <a:off x="479520" y="2743560"/>
            <a:ext cx="7201440" cy="6668280"/>
          </a:xfrm>
          <a:prstGeom prst="rect">
            <a:avLst/>
          </a:prstGeom>
          <a:noFill/>
          <a:ln w="0">
            <a:noFill/>
          </a:ln>
        </p:spPr>
        <p:style>
          <a:lnRef idx="0"/>
          <a:fillRef idx="0"/>
          <a:effectRef idx="0"/>
          <a:fontRef idx="minor"/>
        </p:style>
        <p:txBody>
          <a:bodyPr lIns="0" rIns="0" tIns="0" bIns="0" anchor="t">
            <a:spAutoFit/>
          </a:bodyPr>
          <a:p>
            <a:pPr lvl="1" marL="736200" indent="-368280" defTabSz="914400">
              <a:lnSpc>
                <a:spcPts val="4774"/>
              </a:lnSpc>
              <a:buClr>
                <a:srgbClr val="14274e"/>
              </a:buClr>
              <a:buFont typeface="Arial"/>
              <a:buChar char="•"/>
            </a:pPr>
            <a:r>
              <a:rPr b="0" lang="en-US" sz="3400" spc="-1" strike="noStrike">
                <a:solidFill>
                  <a:srgbClr val="14274e"/>
                </a:solidFill>
                <a:latin typeface="Clear Sans"/>
                <a:ea typeface="Clear Sans"/>
              </a:rPr>
              <a:t> </a:t>
            </a:r>
            <a:r>
              <a:rPr b="0" lang="en-US" sz="3400" spc="-1" strike="noStrike">
                <a:solidFill>
                  <a:srgbClr val="14274e"/>
                </a:solidFill>
                <a:latin typeface="Clear Sans"/>
                <a:ea typeface="Clear Sans"/>
              </a:rPr>
              <a:t>This significant overlap indicates that there is NO distinct clustering pattern based on the news source. Both 'The Guardian' and 'New York Times' use highly similar vocabulary and framing when reporting on global conflicts, suggesting a common approach or thematic focus in their coverage.</a:t>
            </a:r>
            <a:endParaRPr b="0" lang="en-US" sz="3400" spc="-1" strike="noStrike">
              <a:solidFill>
                <a:srgbClr val="ffffff"/>
              </a:solidFill>
              <a:latin typeface="Arial"/>
            </a:endParaRPr>
          </a:p>
        </p:txBody>
      </p:sp>
      <p:sp>
        <p:nvSpPr>
          <p:cNvPr id="103" name="TextBox 9"/>
          <p:cNvSpPr/>
          <p:nvPr/>
        </p:nvSpPr>
        <p:spPr>
          <a:xfrm>
            <a:off x="332640" y="689400"/>
            <a:ext cx="16260120" cy="1523520"/>
          </a:xfrm>
          <a:prstGeom prst="rect">
            <a:avLst/>
          </a:prstGeom>
          <a:noFill/>
          <a:ln w="0">
            <a:noFill/>
          </a:ln>
        </p:spPr>
        <p:style>
          <a:lnRef idx="0"/>
          <a:fillRef idx="0"/>
          <a:effectRef idx="0"/>
          <a:fontRef idx="minor"/>
        </p:style>
        <p:txBody>
          <a:bodyPr lIns="0" rIns="0" tIns="0" bIns="0" anchor="t">
            <a:spAutoFit/>
          </a:bodyPr>
          <a:p>
            <a:pPr algn="just" defTabSz="914400">
              <a:lnSpc>
                <a:spcPts val="4000"/>
              </a:lnSpc>
            </a:pPr>
            <a:r>
              <a:rPr b="1" lang="en-US" sz="5000" spc="-1" strike="noStrike">
                <a:solidFill>
                  <a:srgbClr val="14274e"/>
                </a:solidFill>
                <a:latin typeface="Proxima Nova Heavy"/>
                <a:ea typeface="Proxima Nova Heavy"/>
              </a:rPr>
              <a:t>Is there a clustering pattern in how different news sources report global conflicts?</a:t>
            </a:r>
            <a:endParaRPr b="0" lang="en-US" sz="5000" spc="-1" strike="noStrike">
              <a:solidFill>
                <a:srgbClr val="ffffff"/>
              </a:solidFill>
              <a:latin typeface="Arial"/>
            </a:endParaRPr>
          </a:p>
          <a:p>
            <a:pPr algn="just" defTabSz="914400">
              <a:lnSpc>
                <a:spcPts val="400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104" name="Freeform 2"/>
          <p:cNvSpPr/>
          <p:nvPr/>
        </p:nvSpPr>
        <p:spPr>
          <a:xfrm flipV="1">
            <a:off x="0" y="-58680"/>
            <a:ext cx="3656520" cy="3656520"/>
          </a:xfrm>
          <a:custGeom>
            <a:avLst/>
            <a:gdLst>
              <a:gd name="textAreaLeft" fmla="*/ 0 w 3656520"/>
              <a:gd name="textAreaRight" fmla="*/ 3657600 w 3656520"/>
              <a:gd name="textAreaTop" fmla="*/ -720 h 3656520"/>
              <a:gd name="textAreaBottom" fmla="*/ 3656880 h 3656520"/>
            </a:gdLst>
            <a:ahLst/>
            <a:rect l="textAreaLeft" t="textAreaTop" r="textAreaRight" b="textAreaBottom"/>
            <a:pathLst>
              <a:path w="3657759" h="3657759">
                <a:moveTo>
                  <a:pt x="0" y="3657759"/>
                </a:moveTo>
                <a:lnTo>
                  <a:pt x="3657759" y="3657759"/>
                </a:lnTo>
                <a:lnTo>
                  <a:pt x="3657759" y="0"/>
                </a:lnTo>
                <a:lnTo>
                  <a:pt x="0" y="0"/>
                </a:lnTo>
                <a:lnTo>
                  <a:pt x="0" y="3657759"/>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05" name="Freeform 3"/>
          <p:cNvSpPr/>
          <p:nvPr/>
        </p:nvSpPr>
        <p:spPr>
          <a:xfrm flipH="1" flipV="1">
            <a:off x="13439160" y="-360"/>
            <a:ext cx="4847040" cy="4113720"/>
          </a:xfrm>
          <a:custGeom>
            <a:avLst/>
            <a:gdLst>
              <a:gd name="textAreaLeft" fmla="*/ 720 w 4847040"/>
              <a:gd name="textAreaRight" fmla="*/ 4848840 w 4847040"/>
              <a:gd name="textAreaTop" fmla="*/ -720 h 4113720"/>
              <a:gd name="textAreaBottom" fmla="*/ 4114080 h 4113720"/>
            </a:gdLst>
            <a:ahLst/>
            <a:rect l="textAreaLeft" t="textAreaTop" r="textAreaRight" b="textAreaBottom"/>
            <a:pathLst>
              <a:path w="4848071" h="4114800">
                <a:moveTo>
                  <a:pt x="4848071" y="4114800"/>
                </a:moveTo>
                <a:lnTo>
                  <a:pt x="0" y="4114800"/>
                </a:lnTo>
                <a:lnTo>
                  <a:pt x="0" y="0"/>
                </a:lnTo>
                <a:lnTo>
                  <a:pt x="4848071" y="0"/>
                </a:lnTo>
                <a:lnTo>
                  <a:pt x="4848071" y="4114800"/>
                </a:lnTo>
                <a:close/>
              </a:path>
            </a:pathLst>
          </a:custGeom>
          <a:blipFill rotWithShape="0">
            <a:blip r:embed="rId2">
              <a:alphaModFix amt="50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06" name="Freeform 4"/>
          <p:cNvSpPr/>
          <p:nvPr/>
        </p:nvSpPr>
        <p:spPr>
          <a:xfrm>
            <a:off x="0" y="6172200"/>
            <a:ext cx="4847040" cy="4113720"/>
          </a:xfrm>
          <a:custGeom>
            <a:avLst/>
            <a:gdLst>
              <a:gd name="textAreaLeft" fmla="*/ 0 w 4847040"/>
              <a:gd name="textAreaRight" fmla="*/ 4848120 w 4847040"/>
              <a:gd name="textAreaTop" fmla="*/ 0 h 4113720"/>
              <a:gd name="textAreaBottom" fmla="*/ 4114800 h 4113720"/>
            </a:gdLst>
            <a:ahLst/>
            <a:rect l="textAreaLeft" t="textAreaTop" r="textAreaRight" b="textAreaBottom"/>
            <a:pathLst>
              <a:path w="4848071" h="4114800">
                <a:moveTo>
                  <a:pt x="0" y="0"/>
                </a:moveTo>
                <a:lnTo>
                  <a:pt x="4848071" y="0"/>
                </a:lnTo>
                <a:lnTo>
                  <a:pt x="4848071" y="4114800"/>
                </a:lnTo>
                <a:lnTo>
                  <a:pt x="0" y="4114800"/>
                </a:lnTo>
                <a:lnTo>
                  <a:pt x="0" y="0"/>
                </a:lnTo>
                <a:close/>
              </a:path>
            </a:pathLst>
          </a:custGeom>
          <a:blipFill rotWithShape="0">
            <a:blip r:embed="rId3">
              <a:alphaModFix amt="51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07" name="Freeform 5"/>
          <p:cNvSpPr/>
          <p:nvPr/>
        </p:nvSpPr>
        <p:spPr>
          <a:xfrm flipH="1">
            <a:off x="14628960" y="6629400"/>
            <a:ext cx="3656520" cy="3656520"/>
          </a:xfrm>
          <a:custGeom>
            <a:avLst/>
            <a:gdLst>
              <a:gd name="textAreaLeft" fmla="*/ -720 w 3656520"/>
              <a:gd name="textAreaRight" fmla="*/ 3656880 w 3656520"/>
              <a:gd name="textAreaTop" fmla="*/ 0 h 3656520"/>
              <a:gd name="textAreaBottom" fmla="*/ 3657600 h 3656520"/>
            </a:gdLst>
            <a:ahLst/>
            <a:rect l="textAreaLeft" t="textAreaTop" r="textAreaRight" b="textAreaBottom"/>
            <a:pathLst>
              <a:path w="3657759" h="3657759">
                <a:moveTo>
                  <a:pt x="3657759" y="0"/>
                </a:moveTo>
                <a:lnTo>
                  <a:pt x="0" y="0"/>
                </a:lnTo>
                <a:lnTo>
                  <a:pt x="0" y="3657759"/>
                </a:lnTo>
                <a:lnTo>
                  <a:pt x="3657759" y="3657759"/>
                </a:lnTo>
                <a:lnTo>
                  <a:pt x="3657759"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108" name="Group 6"/>
          <p:cNvGrpSpPr/>
          <p:nvPr/>
        </p:nvGrpSpPr>
        <p:grpSpPr>
          <a:xfrm>
            <a:off x="1028880" y="922680"/>
            <a:ext cx="16229520" cy="8334720"/>
            <a:chOff x="1028880" y="922680"/>
            <a:chExt cx="16229520" cy="8334720"/>
          </a:xfrm>
        </p:grpSpPr>
        <p:sp>
          <p:nvSpPr>
            <p:cNvPr id="109" name="Freeform 7"/>
            <p:cNvSpPr/>
            <p:nvPr/>
          </p:nvSpPr>
          <p:spPr>
            <a:xfrm>
              <a:off x="1028880" y="1067400"/>
              <a:ext cx="16229520" cy="8190000"/>
            </a:xfrm>
            <a:custGeom>
              <a:avLst/>
              <a:gdLst>
                <a:gd name="textAreaLeft" fmla="*/ 0 w 16229520"/>
                <a:gd name="textAreaRight" fmla="*/ 16230600 w 16229520"/>
                <a:gd name="textAreaTop" fmla="*/ 0 h 8190000"/>
                <a:gd name="textAreaBottom" fmla="*/ 8191080 h 8190000"/>
              </a:gdLst>
              <a:ahLst/>
              <a:rect l="textAreaLeft" t="textAreaTop" r="textAreaRight" b="textAreaBottom"/>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0" name="TextBox 8"/>
            <p:cNvSpPr/>
            <p:nvPr/>
          </p:nvSpPr>
          <p:spPr>
            <a:xfrm>
              <a:off x="1028880" y="922680"/>
              <a:ext cx="16229520" cy="8334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111" name="Freeform 9"/>
          <p:cNvSpPr/>
          <p:nvPr/>
        </p:nvSpPr>
        <p:spPr>
          <a:xfrm>
            <a:off x="1280520" y="5405760"/>
            <a:ext cx="7418880" cy="2446200"/>
          </a:xfrm>
          <a:custGeom>
            <a:avLst/>
            <a:gdLst>
              <a:gd name="textAreaLeft" fmla="*/ 0 w 7418880"/>
              <a:gd name="textAreaRight" fmla="*/ 7419960 w 7418880"/>
              <a:gd name="textAreaTop" fmla="*/ 0 h 2446200"/>
              <a:gd name="textAreaBottom" fmla="*/ 2447280 h 2446200"/>
            </a:gdLst>
            <a:ahLst/>
            <a:rect l="textAreaLeft" t="textAreaTop" r="textAreaRight" b="textAreaBottom"/>
            <a:pathLst>
              <a:path w="7420007" h="2447198">
                <a:moveTo>
                  <a:pt x="0" y="0"/>
                </a:moveTo>
                <a:lnTo>
                  <a:pt x="7420006" y="0"/>
                </a:lnTo>
                <a:lnTo>
                  <a:pt x="7420006" y="2447198"/>
                </a:lnTo>
                <a:lnTo>
                  <a:pt x="0" y="2447198"/>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2" name="Freeform 10"/>
          <p:cNvSpPr/>
          <p:nvPr/>
        </p:nvSpPr>
        <p:spPr>
          <a:xfrm>
            <a:off x="9144000" y="6172200"/>
            <a:ext cx="7558920" cy="939600"/>
          </a:xfrm>
          <a:custGeom>
            <a:avLst/>
            <a:gdLst>
              <a:gd name="textAreaLeft" fmla="*/ 0 w 7558920"/>
              <a:gd name="textAreaRight" fmla="*/ 7560000 w 7558920"/>
              <a:gd name="textAreaTop" fmla="*/ 0 h 939600"/>
              <a:gd name="textAreaBottom" fmla="*/ 940680 h 939600"/>
            </a:gdLst>
            <a:ahLst/>
            <a:rect l="textAreaLeft" t="textAreaTop" r="textAreaRight" b="textAreaBottom"/>
            <a:pathLst>
              <a:path w="7559833" h="940509">
                <a:moveTo>
                  <a:pt x="0" y="0"/>
                </a:moveTo>
                <a:lnTo>
                  <a:pt x="7559833" y="0"/>
                </a:lnTo>
                <a:lnTo>
                  <a:pt x="7559833" y="940509"/>
                </a:lnTo>
                <a:lnTo>
                  <a:pt x="0" y="940509"/>
                </a:lnTo>
                <a:lnTo>
                  <a:pt x="0" y="0"/>
                </a:lnTo>
                <a:close/>
              </a:path>
            </a:pathLst>
          </a:custGeom>
          <a:blipFill rotWithShape="0">
            <a:blip r:embed="rId6"/>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3" name="TextBox 11"/>
          <p:cNvSpPr/>
          <p:nvPr/>
        </p:nvSpPr>
        <p:spPr>
          <a:xfrm>
            <a:off x="1280520" y="1529280"/>
            <a:ext cx="14402880" cy="863280"/>
          </a:xfrm>
          <a:prstGeom prst="rect">
            <a:avLst/>
          </a:prstGeom>
          <a:noFill/>
          <a:ln w="0">
            <a:noFill/>
          </a:ln>
        </p:spPr>
        <p:style>
          <a:lnRef idx="0"/>
          <a:fillRef idx="0"/>
          <a:effectRef idx="0"/>
          <a:fontRef idx="minor"/>
        </p:style>
        <p:txBody>
          <a:bodyPr lIns="0" rIns="0" tIns="0" bIns="0" anchor="t">
            <a:spAutoFit/>
          </a:bodyPr>
          <a:p>
            <a:pPr algn="just" defTabSz="914400">
              <a:lnSpc>
                <a:spcPts val="6800"/>
              </a:lnSpc>
            </a:pPr>
            <a:r>
              <a:rPr b="1" lang="en-US" sz="8500" spc="-1" strike="noStrike">
                <a:solidFill>
                  <a:srgbClr val="14274e"/>
                </a:solidFill>
                <a:latin typeface="Proxima Nova Heavy"/>
                <a:ea typeface="Proxima Nova Heavy"/>
              </a:rPr>
              <a:t>            </a:t>
            </a:r>
            <a:r>
              <a:rPr b="1" lang="en-US" sz="8500" spc="-1" strike="noStrike">
                <a:solidFill>
                  <a:srgbClr val="14274e"/>
                </a:solidFill>
                <a:latin typeface="Proxima Nova Heavy"/>
                <a:ea typeface="Proxima Nova Heavy"/>
              </a:rPr>
              <a:t>Data Sources</a:t>
            </a:r>
            <a:endParaRPr b="0" lang="en-US" sz="8500" spc="-1" strike="noStrike">
              <a:solidFill>
                <a:srgbClr val="ffffff"/>
              </a:solidFill>
              <a:latin typeface="Arial"/>
            </a:endParaRPr>
          </a:p>
        </p:txBody>
      </p:sp>
      <p:sp>
        <p:nvSpPr>
          <p:cNvPr id="114" name="TextBox 12"/>
          <p:cNvSpPr/>
          <p:nvPr/>
        </p:nvSpPr>
        <p:spPr>
          <a:xfrm>
            <a:off x="1619640" y="3923280"/>
            <a:ext cx="6861600" cy="675000"/>
          </a:xfrm>
          <a:prstGeom prst="rect">
            <a:avLst/>
          </a:prstGeom>
          <a:noFill/>
          <a:ln w="0">
            <a:noFill/>
          </a:ln>
        </p:spPr>
        <p:style>
          <a:lnRef idx="0"/>
          <a:fillRef idx="0"/>
          <a:effectRef idx="0"/>
          <a:fontRef idx="minor"/>
        </p:style>
        <p:txBody>
          <a:bodyPr lIns="0" rIns="0" tIns="0" bIns="0" anchor="t">
            <a:spAutoFit/>
          </a:bodyPr>
          <a:p>
            <a:pPr lvl="1" marL="820440" indent="-410040" defTabSz="914400">
              <a:lnSpc>
                <a:spcPts val="5318"/>
              </a:lnSpc>
              <a:buClr>
                <a:srgbClr val="14274e"/>
              </a:buClr>
              <a:buFont typeface="Arial"/>
              <a:buChar char="•"/>
            </a:pPr>
            <a:r>
              <a:rPr b="1" lang="en-US" sz="3800" spc="-1" strike="noStrike">
                <a:solidFill>
                  <a:srgbClr val="14274e"/>
                </a:solidFill>
                <a:latin typeface="Clear Sans Bold"/>
                <a:ea typeface="Clear Sans Bold"/>
              </a:rPr>
              <a:t>The Guardian API</a:t>
            </a:r>
            <a:endParaRPr b="0" lang="en-US" sz="3800" spc="-1" strike="noStrike">
              <a:solidFill>
                <a:srgbClr val="ffffff"/>
              </a:solidFill>
              <a:latin typeface="Arial"/>
            </a:endParaRPr>
          </a:p>
        </p:txBody>
      </p:sp>
      <p:sp>
        <p:nvSpPr>
          <p:cNvPr id="115" name="TextBox 13"/>
          <p:cNvSpPr/>
          <p:nvPr/>
        </p:nvSpPr>
        <p:spPr>
          <a:xfrm>
            <a:off x="9709560" y="3923280"/>
            <a:ext cx="6861600" cy="639720"/>
          </a:xfrm>
          <a:prstGeom prst="rect">
            <a:avLst/>
          </a:prstGeom>
          <a:noFill/>
          <a:ln w="0">
            <a:noFill/>
          </a:ln>
        </p:spPr>
        <p:style>
          <a:lnRef idx="0"/>
          <a:fillRef idx="0"/>
          <a:effectRef idx="0"/>
          <a:fontRef idx="minor"/>
        </p:style>
        <p:txBody>
          <a:bodyPr lIns="0" rIns="0" tIns="0" bIns="0" anchor="t">
            <a:spAutoFit/>
          </a:bodyPr>
          <a:p>
            <a:pPr lvl="1" marL="777240" indent="-388440" defTabSz="914400">
              <a:lnSpc>
                <a:spcPts val="5040"/>
              </a:lnSpc>
              <a:buClr>
                <a:srgbClr val="14274e"/>
              </a:buClr>
              <a:buFont typeface="Arial"/>
              <a:buChar char="•"/>
            </a:pPr>
            <a:r>
              <a:rPr b="1" lang="en-US" sz="3600" spc="-1" strike="noStrike">
                <a:solidFill>
                  <a:srgbClr val="14274e"/>
                </a:solidFill>
                <a:latin typeface="Clear Sans Bold"/>
                <a:ea typeface="Clear Sans Bold"/>
              </a:rPr>
              <a:t>The New York Times API</a:t>
            </a:r>
            <a:endParaRPr b="0" lang="en-US" sz="3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116" name="Freeform 2"/>
          <p:cNvSpPr/>
          <p:nvPr/>
        </p:nvSpPr>
        <p:spPr>
          <a:xfrm flipV="1">
            <a:off x="0" y="-58680"/>
            <a:ext cx="3656520" cy="3656520"/>
          </a:xfrm>
          <a:custGeom>
            <a:avLst/>
            <a:gdLst>
              <a:gd name="textAreaLeft" fmla="*/ 0 w 3656520"/>
              <a:gd name="textAreaRight" fmla="*/ 3657600 w 3656520"/>
              <a:gd name="textAreaTop" fmla="*/ -720 h 3656520"/>
              <a:gd name="textAreaBottom" fmla="*/ 3656880 h 3656520"/>
            </a:gdLst>
            <a:ahLst/>
            <a:rect l="textAreaLeft" t="textAreaTop" r="textAreaRight" b="textAreaBottom"/>
            <a:pathLst>
              <a:path w="3657759" h="3657759">
                <a:moveTo>
                  <a:pt x="0" y="3657759"/>
                </a:moveTo>
                <a:lnTo>
                  <a:pt x="3657759" y="3657759"/>
                </a:lnTo>
                <a:lnTo>
                  <a:pt x="3657759" y="0"/>
                </a:lnTo>
                <a:lnTo>
                  <a:pt x="0" y="0"/>
                </a:lnTo>
                <a:lnTo>
                  <a:pt x="0" y="3657759"/>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7" name="Freeform 3"/>
          <p:cNvSpPr/>
          <p:nvPr/>
        </p:nvSpPr>
        <p:spPr>
          <a:xfrm flipH="1" flipV="1">
            <a:off x="13439160" y="-360"/>
            <a:ext cx="4847040" cy="4113720"/>
          </a:xfrm>
          <a:custGeom>
            <a:avLst/>
            <a:gdLst>
              <a:gd name="textAreaLeft" fmla="*/ 720 w 4847040"/>
              <a:gd name="textAreaRight" fmla="*/ 4848840 w 4847040"/>
              <a:gd name="textAreaTop" fmla="*/ -720 h 4113720"/>
              <a:gd name="textAreaBottom" fmla="*/ 4114080 h 4113720"/>
            </a:gdLst>
            <a:ahLst/>
            <a:rect l="textAreaLeft" t="textAreaTop" r="textAreaRight" b="textAreaBottom"/>
            <a:pathLst>
              <a:path w="4848071" h="4114800">
                <a:moveTo>
                  <a:pt x="4848071" y="4114800"/>
                </a:moveTo>
                <a:lnTo>
                  <a:pt x="0" y="4114800"/>
                </a:lnTo>
                <a:lnTo>
                  <a:pt x="0" y="0"/>
                </a:lnTo>
                <a:lnTo>
                  <a:pt x="4848071" y="0"/>
                </a:lnTo>
                <a:lnTo>
                  <a:pt x="4848071" y="4114800"/>
                </a:lnTo>
                <a:close/>
              </a:path>
            </a:pathLst>
          </a:custGeom>
          <a:blipFill rotWithShape="0">
            <a:blip r:embed="rId2">
              <a:alphaModFix amt="50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8" name="Freeform 4"/>
          <p:cNvSpPr/>
          <p:nvPr/>
        </p:nvSpPr>
        <p:spPr>
          <a:xfrm>
            <a:off x="0" y="6172200"/>
            <a:ext cx="4847040" cy="4113720"/>
          </a:xfrm>
          <a:custGeom>
            <a:avLst/>
            <a:gdLst>
              <a:gd name="textAreaLeft" fmla="*/ 0 w 4847040"/>
              <a:gd name="textAreaRight" fmla="*/ 4848120 w 4847040"/>
              <a:gd name="textAreaTop" fmla="*/ 0 h 4113720"/>
              <a:gd name="textAreaBottom" fmla="*/ 4114800 h 4113720"/>
            </a:gdLst>
            <a:ahLst/>
            <a:rect l="textAreaLeft" t="textAreaTop" r="textAreaRight" b="textAreaBottom"/>
            <a:pathLst>
              <a:path w="4848071" h="4114800">
                <a:moveTo>
                  <a:pt x="0" y="0"/>
                </a:moveTo>
                <a:lnTo>
                  <a:pt x="4848071" y="0"/>
                </a:lnTo>
                <a:lnTo>
                  <a:pt x="4848071" y="4114800"/>
                </a:lnTo>
                <a:lnTo>
                  <a:pt x="0" y="4114800"/>
                </a:lnTo>
                <a:lnTo>
                  <a:pt x="0" y="0"/>
                </a:lnTo>
                <a:close/>
              </a:path>
            </a:pathLst>
          </a:custGeom>
          <a:blipFill rotWithShape="0">
            <a:blip r:embed="rId3">
              <a:alphaModFix amt="51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19" name="Freeform 5"/>
          <p:cNvSpPr/>
          <p:nvPr/>
        </p:nvSpPr>
        <p:spPr>
          <a:xfrm flipH="1">
            <a:off x="14628960" y="6629400"/>
            <a:ext cx="3656520" cy="3656520"/>
          </a:xfrm>
          <a:custGeom>
            <a:avLst/>
            <a:gdLst>
              <a:gd name="textAreaLeft" fmla="*/ -720 w 3656520"/>
              <a:gd name="textAreaRight" fmla="*/ 3656880 w 3656520"/>
              <a:gd name="textAreaTop" fmla="*/ 0 h 3656520"/>
              <a:gd name="textAreaBottom" fmla="*/ 3657600 h 3656520"/>
            </a:gdLst>
            <a:ahLst/>
            <a:rect l="textAreaLeft" t="textAreaTop" r="textAreaRight" b="textAreaBottom"/>
            <a:pathLst>
              <a:path w="3657759" h="3657759">
                <a:moveTo>
                  <a:pt x="3657759" y="0"/>
                </a:moveTo>
                <a:lnTo>
                  <a:pt x="0" y="0"/>
                </a:lnTo>
                <a:lnTo>
                  <a:pt x="0" y="3657759"/>
                </a:lnTo>
                <a:lnTo>
                  <a:pt x="3657759" y="3657759"/>
                </a:lnTo>
                <a:lnTo>
                  <a:pt x="3657759"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grpSp>
        <p:nvGrpSpPr>
          <p:cNvPr id="120" name="Group 6"/>
          <p:cNvGrpSpPr/>
          <p:nvPr/>
        </p:nvGrpSpPr>
        <p:grpSpPr>
          <a:xfrm>
            <a:off x="1028880" y="922680"/>
            <a:ext cx="16229520" cy="8334720"/>
            <a:chOff x="1028880" y="922680"/>
            <a:chExt cx="16229520" cy="8334720"/>
          </a:xfrm>
        </p:grpSpPr>
        <p:sp>
          <p:nvSpPr>
            <p:cNvPr id="121" name="Freeform 7"/>
            <p:cNvSpPr/>
            <p:nvPr/>
          </p:nvSpPr>
          <p:spPr>
            <a:xfrm>
              <a:off x="1028880" y="1067400"/>
              <a:ext cx="16229520" cy="8190000"/>
            </a:xfrm>
            <a:custGeom>
              <a:avLst/>
              <a:gdLst>
                <a:gd name="textAreaLeft" fmla="*/ 0 w 16229520"/>
                <a:gd name="textAreaRight" fmla="*/ 16230600 w 16229520"/>
                <a:gd name="textAreaTop" fmla="*/ 0 h 8190000"/>
                <a:gd name="textAreaBottom" fmla="*/ 8191080 h 8190000"/>
              </a:gdLst>
              <a:ahLst/>
              <a:rect l="textAreaLeft" t="textAreaTop" r="textAreaRight" b="textAreaBottom"/>
              <a:pathLst>
                <a:path w="4274726" h="2157295">
                  <a:moveTo>
                    <a:pt x="24327" y="0"/>
                  </a:moveTo>
                  <a:lnTo>
                    <a:pt x="4250399" y="0"/>
                  </a:lnTo>
                  <a:cubicBezTo>
                    <a:pt x="4263834" y="0"/>
                    <a:pt x="4274726" y="10891"/>
                    <a:pt x="4274726" y="24327"/>
                  </a:cubicBezTo>
                  <a:lnTo>
                    <a:pt x="4274726" y="2132968"/>
                  </a:lnTo>
                  <a:cubicBezTo>
                    <a:pt x="4274726" y="2146404"/>
                    <a:pt x="4263834" y="2157295"/>
                    <a:pt x="4250399" y="2157295"/>
                  </a:cubicBezTo>
                  <a:lnTo>
                    <a:pt x="24327" y="2157295"/>
                  </a:lnTo>
                  <a:cubicBezTo>
                    <a:pt x="17875" y="2157295"/>
                    <a:pt x="11687" y="2154732"/>
                    <a:pt x="7125" y="2150170"/>
                  </a:cubicBezTo>
                  <a:cubicBezTo>
                    <a:pt x="2563" y="2145608"/>
                    <a:pt x="0" y="2139420"/>
                    <a:pt x="0" y="2132968"/>
                  </a:cubicBezTo>
                  <a:lnTo>
                    <a:pt x="0" y="24327"/>
                  </a:lnTo>
                  <a:cubicBezTo>
                    <a:pt x="0" y="10891"/>
                    <a:pt x="10891" y="0"/>
                    <a:pt x="24327" y="0"/>
                  </a:cubicBezTo>
                  <a:close/>
                </a:path>
              </a:pathLst>
            </a:custGeom>
            <a:solidFill>
              <a:srgbClr val="f1f6f9"/>
            </a:solidFill>
            <a:ln cap="rnd" w="133350">
              <a:solidFill>
                <a:srgbClr val="39486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22" name="TextBox 8"/>
            <p:cNvSpPr/>
            <p:nvPr/>
          </p:nvSpPr>
          <p:spPr>
            <a:xfrm>
              <a:off x="1028880" y="922680"/>
              <a:ext cx="16229520" cy="8334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a typeface="Arial"/>
              </a:endParaRPr>
            </a:p>
          </p:txBody>
        </p:sp>
      </p:grpSp>
      <p:sp>
        <p:nvSpPr>
          <p:cNvPr id="123" name="TextBox 9"/>
          <p:cNvSpPr/>
          <p:nvPr/>
        </p:nvSpPr>
        <p:spPr>
          <a:xfrm>
            <a:off x="2055240" y="1515960"/>
            <a:ext cx="14402880" cy="659880"/>
          </a:xfrm>
          <a:prstGeom prst="rect">
            <a:avLst/>
          </a:prstGeom>
          <a:noFill/>
          <a:ln w="0">
            <a:noFill/>
          </a:ln>
        </p:spPr>
        <p:style>
          <a:lnRef idx="0"/>
          <a:fillRef idx="0"/>
          <a:effectRef idx="0"/>
          <a:fontRef idx="minor"/>
        </p:style>
        <p:txBody>
          <a:bodyPr lIns="0" rIns="0" tIns="0" bIns="0" anchor="t">
            <a:spAutoFit/>
          </a:bodyPr>
          <a:p>
            <a:pPr algn="just" defTabSz="914400">
              <a:lnSpc>
                <a:spcPts val="5199"/>
              </a:lnSpc>
            </a:pPr>
            <a:r>
              <a:rPr b="1" lang="en-US" sz="6500" spc="-1" strike="noStrike">
                <a:solidFill>
                  <a:srgbClr val="14274e"/>
                </a:solidFill>
                <a:latin typeface="Proxima Nova Heavy"/>
                <a:ea typeface="Proxima Nova Heavy"/>
              </a:rPr>
              <a:t>   </a:t>
            </a:r>
            <a:r>
              <a:rPr b="1" lang="en-US" sz="6500" spc="-1" strike="noStrike">
                <a:solidFill>
                  <a:srgbClr val="14274e"/>
                </a:solidFill>
                <a:latin typeface="Proxima Nova Heavy"/>
                <a:ea typeface="Proxima Nova Heavy"/>
              </a:rPr>
              <a:t>Main analysis &amp; Conclusions</a:t>
            </a:r>
            <a:endParaRPr b="0" lang="en-US" sz="6500" spc="-1" strike="noStrike">
              <a:solidFill>
                <a:srgbClr val="ffffff"/>
              </a:solidFill>
              <a:latin typeface="Arial"/>
            </a:endParaRPr>
          </a:p>
        </p:txBody>
      </p:sp>
      <p:sp>
        <p:nvSpPr>
          <p:cNvPr id="124" name="TextBox 10"/>
          <p:cNvSpPr/>
          <p:nvPr/>
        </p:nvSpPr>
        <p:spPr>
          <a:xfrm>
            <a:off x="1368720" y="2613240"/>
            <a:ext cx="15521760" cy="6721560"/>
          </a:xfrm>
          <a:prstGeom prst="rect">
            <a:avLst/>
          </a:prstGeom>
          <a:noFill/>
          <a:ln w="0">
            <a:noFill/>
          </a:ln>
        </p:spPr>
        <p:style>
          <a:lnRef idx="0"/>
          <a:fillRef idx="0"/>
          <a:effectRef idx="0"/>
          <a:fontRef idx="minor"/>
        </p:style>
        <p:txBody>
          <a:bodyPr lIns="0" rIns="0" tIns="0" bIns="0" anchor="t">
            <a:spAutoFit/>
          </a:bodyPr>
          <a:p>
            <a:pPr defTabSz="914400">
              <a:lnSpc>
                <a:spcPts val="4411"/>
              </a:lnSpc>
            </a:pPr>
            <a:r>
              <a:rPr b="1" lang="en-US" sz="3150" spc="-1" strike="noStrike">
                <a:solidFill>
                  <a:srgbClr val="14274e"/>
                </a:solidFill>
                <a:latin typeface="Clear Sans Bold"/>
                <a:ea typeface="Clear Sans Bold"/>
              </a:rPr>
              <a:t>We focus on collecting and preparing the data from The Guardian and The New York Times APIs. So far, we've successfully gathered articles on politics, economy, and conflict topics from January 2024 to June 2025, merged them, and performed initial cleaning (deduplication and handling missing headlines).</a:t>
            </a:r>
            <a:endParaRPr b="0" lang="en-US" sz="3150" spc="-1" strike="noStrike">
              <a:solidFill>
                <a:srgbClr val="ffffff"/>
              </a:solidFill>
              <a:latin typeface="Arial"/>
            </a:endParaRPr>
          </a:p>
          <a:p>
            <a:pPr defTabSz="914400">
              <a:lnSpc>
                <a:spcPts val="4411"/>
              </a:lnSpc>
            </a:pPr>
            <a:r>
              <a:rPr b="1" lang="en-US" sz="3150" spc="-1" strike="noStrike">
                <a:solidFill>
                  <a:srgbClr val="14274e"/>
                </a:solidFill>
                <a:latin typeface="Clear Sans Bold"/>
                <a:ea typeface="Clear Sans Bold"/>
              </a:rPr>
              <a:t>Main analysis and conclusions have not yet been performed or drawn. This dataset (final_10_dataset.csv) is now ready for further analysis, such as:</a:t>
            </a:r>
            <a:endParaRPr b="0" lang="en-US" sz="3150" spc="-1" strike="noStrike">
              <a:solidFill>
                <a:srgbClr val="ffffff"/>
              </a:solidFill>
              <a:latin typeface="Arial"/>
            </a:endParaRPr>
          </a:p>
          <a:p>
            <a:pPr lvl="1" marL="680400" indent="-340200" defTabSz="914400">
              <a:lnSpc>
                <a:spcPts val="4411"/>
              </a:lnSpc>
              <a:buClr>
                <a:srgbClr val="14274e"/>
              </a:buClr>
              <a:buFont typeface="Arial"/>
              <a:buChar char="•"/>
            </a:pPr>
            <a:r>
              <a:rPr b="1" lang="en-US" sz="3150" spc="-1" strike="noStrike">
                <a:solidFill>
                  <a:srgbClr val="14274e"/>
                </a:solidFill>
                <a:latin typeface="Clear Sans Bold"/>
                <a:ea typeface="Clear Sans Bold"/>
              </a:rPr>
              <a:t>Topic modeling to identify prevalent themes.</a:t>
            </a:r>
            <a:endParaRPr b="0" lang="en-US" sz="3150" spc="-1" strike="noStrike">
              <a:solidFill>
                <a:srgbClr val="ffffff"/>
              </a:solidFill>
              <a:latin typeface="Arial"/>
            </a:endParaRPr>
          </a:p>
          <a:p>
            <a:pPr lvl="1" marL="680400" indent="-340200" defTabSz="914400">
              <a:lnSpc>
                <a:spcPts val="4411"/>
              </a:lnSpc>
              <a:buClr>
                <a:srgbClr val="14274e"/>
              </a:buClr>
              <a:buFont typeface="Arial"/>
              <a:buChar char="•"/>
            </a:pPr>
            <a:r>
              <a:rPr b="1" lang="en-US" sz="3150" spc="-1" strike="noStrike">
                <a:solidFill>
                  <a:srgbClr val="14274e"/>
                </a:solidFill>
                <a:latin typeface="Clear Sans Bold"/>
                <a:ea typeface="Clear Sans Bold"/>
              </a:rPr>
              <a:t>Sentiment analysis to understand the general tone of articles.</a:t>
            </a:r>
            <a:endParaRPr b="0" lang="en-US" sz="3150" spc="-1" strike="noStrike">
              <a:solidFill>
                <a:srgbClr val="ffffff"/>
              </a:solidFill>
              <a:latin typeface="Arial"/>
            </a:endParaRPr>
          </a:p>
          <a:p>
            <a:pPr lvl="1" marL="680400" indent="-340200" defTabSz="914400">
              <a:lnSpc>
                <a:spcPts val="4411"/>
              </a:lnSpc>
              <a:buClr>
                <a:srgbClr val="14274e"/>
              </a:buClr>
              <a:buFont typeface="Arial"/>
              <a:buChar char="•"/>
            </a:pPr>
            <a:r>
              <a:rPr b="1" lang="en-US" sz="3150" spc="-1" strike="noStrike">
                <a:solidFill>
                  <a:srgbClr val="14274e"/>
                </a:solidFill>
                <a:latin typeface="Clear Sans Bold"/>
                <a:ea typeface="Clear Sans Bold"/>
              </a:rPr>
              <a:t>Trend analysis over time for different topics and sources.</a:t>
            </a:r>
            <a:endParaRPr b="0" lang="en-US" sz="3150" spc="-1" strike="noStrike">
              <a:solidFill>
                <a:srgbClr val="ffffff"/>
              </a:solidFill>
              <a:latin typeface="Arial"/>
            </a:endParaRPr>
          </a:p>
          <a:p>
            <a:pPr lvl="1" marL="680400" indent="-340200" defTabSz="914400">
              <a:lnSpc>
                <a:spcPts val="4411"/>
              </a:lnSpc>
              <a:buClr>
                <a:srgbClr val="14274e"/>
              </a:buClr>
              <a:buFont typeface="Arial"/>
              <a:buChar char="•"/>
            </a:pPr>
            <a:r>
              <a:rPr b="1" lang="en-US" sz="3150" spc="-1" strike="noStrike">
                <a:solidFill>
                  <a:srgbClr val="14274e"/>
                </a:solidFill>
                <a:latin typeface="Clear Sans Bold"/>
                <a:ea typeface="Clear Sans Bold"/>
              </a:rPr>
              <a:t>Comparative analysis between The Guardian and The New York Times coverage.</a:t>
            </a:r>
            <a:endParaRPr b="0" lang="en-US" sz="3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74e"/>
        </a:solidFill>
      </p:bgPr>
    </p:bg>
    <p:spTree>
      <p:nvGrpSpPr>
        <p:cNvPr id="1" name=""/>
        <p:cNvGrpSpPr/>
        <p:nvPr/>
      </p:nvGrpSpPr>
      <p:grpSpPr>
        <a:xfrm>
          <a:off x="0" y="0"/>
          <a:ext cx="0" cy="0"/>
          <a:chOff x="0" y="0"/>
          <a:chExt cx="0" cy="0"/>
        </a:xfrm>
      </p:grpSpPr>
      <p:sp>
        <p:nvSpPr>
          <p:cNvPr id="125" name="Freeform 2"/>
          <p:cNvSpPr/>
          <p:nvPr/>
        </p:nvSpPr>
        <p:spPr>
          <a:xfrm flipV="1">
            <a:off x="0" y="-58680"/>
            <a:ext cx="6228360" cy="6228360"/>
          </a:xfrm>
          <a:custGeom>
            <a:avLst/>
            <a:gdLst>
              <a:gd name="textAreaLeft" fmla="*/ 0 w 6228360"/>
              <a:gd name="textAreaRight" fmla="*/ 6229440 w 6228360"/>
              <a:gd name="textAreaTop" fmla="*/ -720 h 6228360"/>
              <a:gd name="textAreaBottom" fmla="*/ 6228720 h 6228360"/>
            </a:gdLst>
            <a:ahLst/>
            <a:rect l="textAreaLeft" t="textAreaTop" r="textAreaRight" b="textAreaBottom"/>
            <a:pathLst>
              <a:path w="6229350" h="6229350">
                <a:moveTo>
                  <a:pt x="0" y="6229350"/>
                </a:moveTo>
                <a:lnTo>
                  <a:pt x="6229350" y="6229350"/>
                </a:lnTo>
                <a:lnTo>
                  <a:pt x="6229350" y="0"/>
                </a:lnTo>
                <a:lnTo>
                  <a:pt x="0" y="0"/>
                </a:lnTo>
                <a:lnTo>
                  <a:pt x="0" y="622935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26" name="TextBox 3"/>
          <p:cNvSpPr/>
          <p:nvPr/>
        </p:nvSpPr>
        <p:spPr>
          <a:xfrm>
            <a:off x="3485880" y="3818160"/>
            <a:ext cx="11315160" cy="3243240"/>
          </a:xfrm>
          <a:prstGeom prst="rect">
            <a:avLst/>
          </a:prstGeom>
          <a:noFill/>
          <a:ln w="0">
            <a:noFill/>
          </a:ln>
        </p:spPr>
        <p:style>
          <a:lnRef idx="0"/>
          <a:fillRef idx="0"/>
          <a:effectRef idx="0"/>
          <a:fontRef idx="minor"/>
        </p:style>
        <p:txBody>
          <a:bodyPr lIns="0" rIns="0" tIns="0" bIns="0" anchor="t">
            <a:spAutoFit/>
          </a:bodyPr>
          <a:p>
            <a:pPr algn="ctr" defTabSz="914400">
              <a:lnSpc>
                <a:spcPts val="12770"/>
              </a:lnSpc>
            </a:pPr>
            <a:r>
              <a:rPr b="1" lang="en-US" sz="15950" spc="-1" strike="noStrike">
                <a:solidFill>
                  <a:srgbClr val="f1f6f9"/>
                </a:solidFill>
                <a:latin typeface="Proxima Nova Heavy"/>
                <a:ea typeface="Proxima Nova Heavy"/>
              </a:rPr>
              <a:t>THANK YOU</a:t>
            </a:r>
            <a:endParaRPr b="0" lang="en-US" sz="15950" spc="-1" strike="noStrike">
              <a:solidFill>
                <a:srgbClr val="ffffff"/>
              </a:solidFill>
              <a:latin typeface="Arial"/>
            </a:endParaRPr>
          </a:p>
        </p:txBody>
      </p:sp>
      <p:sp>
        <p:nvSpPr>
          <p:cNvPr id="127" name="Freeform 4"/>
          <p:cNvSpPr/>
          <p:nvPr/>
        </p:nvSpPr>
        <p:spPr>
          <a:xfrm>
            <a:off x="0" y="6172200"/>
            <a:ext cx="4847040" cy="4113720"/>
          </a:xfrm>
          <a:custGeom>
            <a:avLst/>
            <a:gdLst>
              <a:gd name="textAreaLeft" fmla="*/ 0 w 4847040"/>
              <a:gd name="textAreaRight" fmla="*/ 4848120 w 4847040"/>
              <a:gd name="textAreaTop" fmla="*/ 0 h 4113720"/>
              <a:gd name="textAreaBottom" fmla="*/ 4114800 h 4113720"/>
            </a:gdLst>
            <a:ahLst/>
            <a:rect l="textAreaLeft" t="textAreaTop" r="textAreaRight" b="textAreaBottom"/>
            <a:pathLst>
              <a:path w="4848071" h="4114800">
                <a:moveTo>
                  <a:pt x="0" y="0"/>
                </a:moveTo>
                <a:lnTo>
                  <a:pt x="4848071" y="0"/>
                </a:lnTo>
                <a:lnTo>
                  <a:pt x="4848071" y="4114800"/>
                </a:lnTo>
                <a:lnTo>
                  <a:pt x="0" y="4114800"/>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28" name="Freeform 5"/>
          <p:cNvSpPr/>
          <p:nvPr/>
        </p:nvSpPr>
        <p:spPr>
          <a:xfrm flipH="1" flipV="1">
            <a:off x="13439160" y="-360"/>
            <a:ext cx="4847040" cy="4113720"/>
          </a:xfrm>
          <a:custGeom>
            <a:avLst/>
            <a:gdLst>
              <a:gd name="textAreaLeft" fmla="*/ 720 w 4847040"/>
              <a:gd name="textAreaRight" fmla="*/ 4848840 w 4847040"/>
              <a:gd name="textAreaTop" fmla="*/ -720 h 4113720"/>
              <a:gd name="textAreaBottom" fmla="*/ 4114080 h 4113720"/>
            </a:gdLst>
            <a:ahLst/>
            <a:rect l="textAreaLeft" t="textAreaTop" r="textAreaRight" b="textAreaBottom"/>
            <a:pathLst>
              <a:path w="4848071" h="4114800">
                <a:moveTo>
                  <a:pt x="4848071" y="4114800"/>
                </a:moveTo>
                <a:lnTo>
                  <a:pt x="0" y="4114800"/>
                </a:lnTo>
                <a:lnTo>
                  <a:pt x="0" y="0"/>
                </a:lnTo>
                <a:lnTo>
                  <a:pt x="4848071" y="0"/>
                </a:lnTo>
                <a:lnTo>
                  <a:pt x="4848071" y="411480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
        <p:nvSpPr>
          <p:cNvPr id="129" name="Freeform 6"/>
          <p:cNvSpPr/>
          <p:nvPr/>
        </p:nvSpPr>
        <p:spPr>
          <a:xfrm flipH="1">
            <a:off x="12057120" y="4143240"/>
            <a:ext cx="6228360" cy="6228360"/>
          </a:xfrm>
          <a:custGeom>
            <a:avLst/>
            <a:gdLst>
              <a:gd name="textAreaLeft" fmla="*/ -720 w 6228360"/>
              <a:gd name="textAreaRight" fmla="*/ 6228720 w 6228360"/>
              <a:gd name="textAreaTop" fmla="*/ 0 h 6228360"/>
              <a:gd name="textAreaBottom" fmla="*/ 6229440 h 6228360"/>
            </a:gdLst>
            <a:ahLst/>
            <a:rect l="textAreaLeft" t="textAreaTop" r="textAreaRight" b="textAreaBottom"/>
            <a:pathLst>
              <a:path w="6229350" h="6229350">
                <a:moveTo>
                  <a:pt x="6229350" y="0"/>
                </a:moveTo>
                <a:lnTo>
                  <a:pt x="0" y="0"/>
                </a:lnTo>
                <a:lnTo>
                  <a:pt x="0" y="6229350"/>
                </a:lnTo>
                <a:lnTo>
                  <a:pt x="6229350" y="6229350"/>
                </a:lnTo>
                <a:lnTo>
                  <a:pt x="622935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Arial" pitchFamily="0" charset="1"/>
        <a:cs typeface="Arial" pitchFamily="0" charset="1"/>
      </a:majorFont>
      <a:minorFont>
        <a:latin typeface="Calibri" pitchFamily="0" charset="1"/>
        <a:ea typeface="Arial" pitchFamily="0" charset="1"/>
        <a:cs typeface="Arial"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0" t="0" r="0" b="0"/>
          </a:path>
          <a:tileRect l="0" t="0" r="0" b="0"/>
        </a:gradFill>
        <a:gradFill>
          <a:gsLst>
            <a:gs pos="0">
              <a:schemeClr val="phClr">
                <a:tint val="80000"/>
              </a:schemeClr>
            </a:gs>
            <a:gs pos="100000">
              <a:schemeClr val="phClr">
                <a:shade val="30000"/>
              </a:schemeClr>
            </a:gs>
          </a:gsLst>
          <a:path path="circle">
            <a:fillToRect l="0" t="0" r="0" b="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DAG8wLeYuYs</dc:identifier>
  <dc:language>en-US</dc:language>
  <cp:lastModifiedBy/>
  <dcterms:modified xsi:type="dcterms:W3CDTF">2025-12-30T03:01:27Z</dcterms:modified>
  <cp:revision>6</cp:revision>
  <dc:subject/>
  <dc:title>DA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9</vt:i4>
  </property>
  <property fmtid="{D5CDD505-2E9C-101B-9397-08002B2CF9AE}" pid="4" name="PresentationFormat">
    <vt:lpwstr>On-screen Show (4:3)</vt:lpwstr>
  </property>
  <property fmtid="{D5CDD505-2E9C-101B-9397-08002B2CF9AE}" pid="5" name="Slides">
    <vt:i4>9</vt:i4>
  </property>
</Properties>
</file>